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Inter Medium" panose="020B0604020202020204" charset="0"/>
      <p:regular r:id="rId16"/>
      <p:bold r:id="rId17"/>
      <p:italic r:id="rId18"/>
      <p:boldItalic r:id="rId19"/>
    </p:embeddedFont>
    <p:embeddedFont>
      <p:font typeface="Inter SemiBold" panose="020B0604020202020204" charset="0"/>
      <p:regular r:id="rId20"/>
      <p:bold r:id="rId21"/>
      <p:italic r:id="rId22"/>
      <p:boldItalic r:id="rId23"/>
    </p:embeddedFont>
    <p:embeddedFont>
      <p:font typeface="Space Grotesk" panose="020B0604020202020204" charset="0"/>
      <p:regular r:id="rId24"/>
      <p:bold r:id="rId25"/>
    </p:embeddedFont>
    <p:embeddedFont>
      <p:font typeface="Space Grotesk Medium" panose="020B0604020202020204" charset="0"/>
      <p:regular r:id="rId26"/>
      <p:bold r:id="rId27"/>
    </p:embeddedFont>
    <p:embeddedFont>
      <p:font typeface="Space Grotesk SemiBold" panose="020B060402020202020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AD940E-B47E-4D0C-9D39-0C98CCD1D847}">
  <a:tblStyle styleId="{05AD940E-B47E-4D0C-9D39-0C98CCD1D8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5683" autoAdjust="0"/>
  </p:normalViewPr>
  <p:slideViewPr>
    <p:cSldViewPr snapToGrid="0">
      <p:cViewPr varScale="1">
        <p:scale>
          <a:sx n="51" d="100"/>
          <a:sy n="51" d="100"/>
        </p:scale>
        <p:origin x="2874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57e0ab7b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Buongiorno a tutti.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Il </a:t>
            </a:r>
            <a:r>
              <a:rPr lang="en-US" dirty="0" err="1"/>
              <a:t>progetto</a:t>
            </a:r>
            <a:r>
              <a:rPr lang="en-US" dirty="0"/>
              <a:t> </a:t>
            </a:r>
            <a:r>
              <a:rPr lang="en-US" dirty="0" err="1"/>
              <a:t>consiste</a:t>
            </a:r>
            <a:r>
              <a:rPr lang="en-US" dirty="0"/>
              <a:t> in un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distribuito</a:t>
            </a:r>
            <a:r>
              <a:rPr lang="en-US" dirty="0"/>
              <a:t> e IoT per </a:t>
            </a:r>
            <a:r>
              <a:rPr lang="en-US" dirty="0" err="1"/>
              <a:t>l'automazione</a:t>
            </a:r>
            <a:r>
              <a:rPr lang="en-US" dirty="0"/>
              <a:t> del </a:t>
            </a:r>
            <a:r>
              <a:rPr lang="en-US" dirty="0" err="1"/>
              <a:t>carico</a:t>
            </a:r>
            <a:r>
              <a:rPr lang="en-US" dirty="0"/>
              <a:t> di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stiva</a:t>
            </a:r>
            <a:r>
              <a:rPr lang="en-US" dirty="0"/>
              <a:t>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 </a:t>
            </a:r>
            <a:r>
              <a:rPr lang="en-US" dirty="0" err="1"/>
              <a:t>scopo</a:t>
            </a:r>
            <a:r>
              <a:rPr lang="en-US" dirty="0"/>
              <a:t> </a:t>
            </a:r>
            <a:r>
              <a:rPr lang="en-US" dirty="0" err="1"/>
              <a:t>dell'architettura</a:t>
            </a:r>
            <a:r>
              <a:rPr lang="en-US" dirty="0"/>
              <a:t> è </a:t>
            </a:r>
            <a:r>
              <a:rPr lang="en-US" dirty="0" err="1"/>
              <a:t>orchestrare</a:t>
            </a:r>
            <a:r>
              <a:rPr lang="en-US" dirty="0"/>
              <a:t>, in </a:t>
            </a:r>
            <a:r>
              <a:rPr lang="en-US" dirty="0" err="1"/>
              <a:t>sicurezza</a:t>
            </a:r>
            <a:r>
              <a:rPr lang="en-US" dirty="0"/>
              <a:t> e in tempo </a:t>
            </a:r>
            <a:r>
              <a:rPr lang="en-US" dirty="0" err="1"/>
              <a:t>reale</a:t>
            </a:r>
            <a:r>
              <a:rPr lang="en-US" dirty="0"/>
              <a:t>, un robot mobile </a:t>
            </a:r>
            <a:r>
              <a:rPr lang="en-US" dirty="0" err="1"/>
              <a:t>autonomo</a:t>
            </a:r>
            <a:r>
              <a:rPr lang="en-US" dirty="0"/>
              <a:t> </a:t>
            </a:r>
            <a:r>
              <a:rPr lang="en-US" dirty="0" err="1"/>
              <a:t>facendolo</a:t>
            </a:r>
            <a:r>
              <a:rPr lang="en-US" dirty="0"/>
              <a:t> </a:t>
            </a:r>
            <a:r>
              <a:rPr lang="en-US" dirty="0" err="1"/>
              <a:t>interagire</a:t>
            </a:r>
            <a:r>
              <a:rPr lang="en-US" dirty="0"/>
              <a:t> con </a:t>
            </a:r>
            <a:r>
              <a:rPr lang="en-US" dirty="0" err="1"/>
              <a:t>dispositivi</a:t>
            </a:r>
            <a:r>
              <a:rPr lang="en-US" dirty="0"/>
              <a:t> </a:t>
            </a:r>
            <a:r>
              <a:rPr lang="en-US" dirty="0" err="1"/>
              <a:t>esterni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82" name="Google Shape;82;g3f557e0ab7b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557e0ab7b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Per </a:t>
            </a:r>
            <a:r>
              <a:rPr lang="en-US" dirty="0" err="1"/>
              <a:t>gestire</a:t>
            </a:r>
            <a:r>
              <a:rPr lang="en-US" dirty="0"/>
              <a:t> la </a:t>
            </a:r>
            <a:r>
              <a:rPr lang="en-US" dirty="0" err="1"/>
              <a:t>complessità</a:t>
            </a:r>
            <a:r>
              <a:rPr lang="en-US" dirty="0"/>
              <a:t>, </a:t>
            </a:r>
            <a:r>
              <a:rPr lang="en-US" dirty="0" err="1"/>
              <a:t>abbiamo</a:t>
            </a:r>
            <a:r>
              <a:rPr lang="en-US" dirty="0"/>
              <a:t> </a:t>
            </a:r>
            <a:r>
              <a:rPr lang="en-US" dirty="0" err="1"/>
              <a:t>adottato</a:t>
            </a:r>
            <a:r>
              <a:rPr lang="en-US" dirty="0"/>
              <a:t> uno </a:t>
            </a:r>
            <a:r>
              <a:rPr lang="en-US" dirty="0" err="1"/>
              <a:t>sviluppo</a:t>
            </a:r>
            <a:r>
              <a:rPr lang="en-US" dirty="0"/>
              <a:t> ad </a:t>
            </a:r>
            <a:r>
              <a:rPr lang="en-US" dirty="0" err="1"/>
              <a:t>incrementi</a:t>
            </a:r>
            <a:r>
              <a:rPr lang="en-US" dirty="0"/>
              <a:t> </a:t>
            </a:r>
            <a:r>
              <a:rPr lang="en-US" dirty="0" err="1"/>
              <a:t>diviso</a:t>
            </a:r>
            <a:r>
              <a:rPr lang="en-US" dirty="0"/>
              <a:t> in quattro </a:t>
            </a:r>
            <a:r>
              <a:rPr lang="en-US" dirty="0" err="1"/>
              <a:t>fasi</a:t>
            </a:r>
            <a:r>
              <a:rPr lang="en-US" dirty="0"/>
              <a:t>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Sprint 0: </a:t>
            </a:r>
            <a:r>
              <a:rPr lang="it-IT" dirty="0"/>
              <a:t>Analisi dei requisiti e chiarimenti sull’</a:t>
            </a:r>
            <a:r>
              <a:rPr lang="it-IT" dirty="0" err="1"/>
              <a:t>abstraction</a:t>
            </a:r>
            <a:r>
              <a:rPr lang="it-IT" dirty="0"/>
              <a:t> gap e una formalizzazione del linguaggio con lo scopo di evitare ambiguità, costruzione di un primo modello formale eseguibile in linguaggio </a:t>
            </a:r>
            <a:r>
              <a:rPr lang="it-IT" dirty="0" err="1"/>
              <a:t>Qak</a:t>
            </a:r>
            <a:r>
              <a:rPr lang="it-IT" dirty="0"/>
              <a:t>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Sprint 1: </a:t>
            </a:r>
            <a:r>
              <a:rPr lang="en-US" dirty="0" err="1"/>
              <a:t>Sviluppo</a:t>
            </a:r>
            <a:r>
              <a:rPr lang="en-US" dirty="0"/>
              <a:t> </a:t>
            </a:r>
            <a:r>
              <a:rPr lang="en-US" dirty="0" err="1"/>
              <a:t>dell'architettura</a:t>
            </a:r>
            <a:r>
              <a:rPr lang="en-US" dirty="0"/>
              <a:t> </a:t>
            </a:r>
            <a:r>
              <a:rPr lang="en-US" dirty="0" err="1"/>
              <a:t>logica</a:t>
            </a:r>
            <a:r>
              <a:rPr lang="en-US" dirty="0"/>
              <a:t> centrale e </a:t>
            </a:r>
            <a:r>
              <a:rPr lang="en-US" dirty="0" err="1"/>
              <a:t>superamento</a:t>
            </a:r>
            <a:r>
              <a:rPr lang="en-US" dirty="0"/>
              <a:t> del gap </a:t>
            </a:r>
            <a:r>
              <a:rPr lang="en-US" dirty="0" err="1"/>
              <a:t>cartesiano</a:t>
            </a:r>
            <a:r>
              <a:rPr lang="en-US" dirty="0"/>
              <a:t> per il </a:t>
            </a:r>
            <a:r>
              <a:rPr lang="en-US" dirty="0" err="1"/>
              <a:t>movimento</a:t>
            </a:r>
            <a:r>
              <a:rPr lang="en-US" dirty="0"/>
              <a:t> del robot.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Sprint 2: Distribuzione di rete del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tramite</a:t>
            </a:r>
            <a:r>
              <a:rPr lang="en-US" dirty="0"/>
              <a:t> </a:t>
            </a:r>
            <a:r>
              <a:rPr lang="en-US" dirty="0" err="1"/>
              <a:t>protocolli</a:t>
            </a:r>
            <a:r>
              <a:rPr lang="en-US" dirty="0"/>
              <a:t> CoAP, HTTP e MQTT, </a:t>
            </a:r>
            <a:r>
              <a:rPr lang="en-US" dirty="0" err="1"/>
              <a:t>introducendo</a:t>
            </a:r>
            <a:r>
              <a:rPr lang="en-US" dirty="0"/>
              <a:t> </a:t>
            </a:r>
            <a:r>
              <a:rPr lang="en-US" dirty="0" err="1"/>
              <a:t>sensori</a:t>
            </a:r>
            <a:r>
              <a:rPr lang="en-US" dirty="0"/>
              <a:t> e LED </a:t>
            </a:r>
            <a:r>
              <a:rPr lang="en-US" dirty="0" err="1"/>
              <a:t>simulati</a:t>
            </a:r>
            <a:r>
              <a:rPr lang="en-US" dirty="0"/>
              <a:t>.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Sprint 3: Passaggio finale </a:t>
            </a:r>
            <a:r>
              <a:rPr lang="en-US" dirty="0" err="1"/>
              <a:t>all'hardware</a:t>
            </a:r>
            <a:r>
              <a:rPr lang="en-US" dirty="0"/>
              <a:t> </a:t>
            </a:r>
            <a:r>
              <a:rPr lang="en-US" dirty="0" err="1"/>
              <a:t>fisico</a:t>
            </a:r>
            <a:r>
              <a:rPr lang="en-US" dirty="0"/>
              <a:t>, </a:t>
            </a:r>
            <a:r>
              <a:rPr lang="en-US" dirty="0" err="1"/>
              <a:t>sostituendo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simulatori</a:t>
            </a:r>
            <a:r>
              <a:rPr lang="en-US" dirty="0"/>
              <a:t> con un Raspberry Pi Pico W </a:t>
            </a:r>
            <a:r>
              <a:rPr lang="en-US" dirty="0" err="1"/>
              <a:t>collegato</a:t>
            </a:r>
            <a:r>
              <a:rPr lang="en-US" dirty="0"/>
              <a:t> a un </a:t>
            </a:r>
            <a:r>
              <a:rPr lang="en-US" dirty="0" err="1"/>
              <a:t>vero</a:t>
            </a:r>
            <a:r>
              <a:rPr lang="en-US" dirty="0"/>
              <a:t> Sonar e a un LED.</a:t>
            </a:r>
            <a:endParaRPr dirty="0"/>
          </a:p>
        </p:txBody>
      </p:sp>
      <p:sp>
        <p:nvSpPr>
          <p:cNvPr id="98" name="Google Shape;98;g3f557e0ab7b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557e0ab7b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questa fase siamo passati dall'analisi alla modellazione dell'architettura.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Innanzitutto, abbiamo definito un vocabolario e dei vincoli formali.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Questo passaggio è stato fondamentale per garantirci una rigorosa tracciabilità bidirezionale tra i requisiti testuali forniti dal committente e gli eventi reali del sistema.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livello architetturale, abbiamo modellato il sistema distribuendolo su diversi nodi: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Abbiamo due Contesti Qak Centrali: uno dedicato all'orchestratore logico e uno remoto per la pianificazione del movimento del robot.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E due Nodi Esterni eterogenei: un'interfaccia web per l'utente (che comunica via HTTP e CoAP) e un nodo IoT fisico remoto per Sonar e LED, integrato tramite broker MQTT.</a:t>
            </a:r>
            <a:endParaRPr/>
          </a:p>
        </p:txBody>
      </p:sp>
      <p:sp>
        <p:nvSpPr>
          <p:cNvPr id="122" name="Google Shape;122;g3f557e0ab7b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557e0ab7b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Entrando nel dettaglio dell'Architettura Logica, abbiamo applicato il principio di </a:t>
            </a:r>
            <a:r>
              <a:rPr lang="en-US" b="1"/>
              <a:t>separazione delle responsabilità</a:t>
            </a:r>
            <a:r>
              <a:rPr lang="en-US"/>
              <a:t>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Da un lato c'è </a:t>
            </a:r>
            <a:r>
              <a:rPr lang="en-US" b="1"/>
              <a:t>l'Orchestratore</a:t>
            </a:r>
            <a:r>
              <a:rPr lang="en-US"/>
              <a:t>, che ragiona esclusivamente ad alto livello: prenota gli slot logici e gestisce gli stati della stiva.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Dall'altro lato abbiamo isolato il </a:t>
            </a:r>
            <a:r>
              <a:rPr lang="en-US" b="1"/>
              <a:t>Driver Robot</a:t>
            </a:r>
            <a:r>
              <a:rPr lang="en-US"/>
              <a:t>, il cui compito è risolvere il </a:t>
            </a:r>
            <a:r>
              <a:rPr lang="en-US" b="1"/>
              <a:t>gap cartesiano</a:t>
            </a:r>
            <a:r>
              <a:rPr lang="en-US"/>
              <a:t>: prende le mete semantiche (come 'ioport') e le traduce in coordinate geometriche X-Y, comunicando con l'orchestratore in modo asincrono tramite pattern Request-Reply</a:t>
            </a:r>
            <a:endParaRPr/>
          </a:p>
        </p:txBody>
      </p:sp>
      <p:sp>
        <p:nvSpPr>
          <p:cNvPr id="151" name="Google Shape;151;g3f557e0ab7b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557e0ab7b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Passando al deployment, l</a:t>
            </a:r>
            <a:r>
              <a:rPr lang="en-US" b="1"/>
              <a:t>'Architettura Fisica</a:t>
            </a:r>
            <a:r>
              <a:rPr lang="en-US"/>
              <a:t> è totalmente distribuita.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Il core gira su una JVM che ospita il </a:t>
            </a:r>
            <a:r>
              <a:rPr lang="en-US" i="1"/>
              <a:t>backend </a:t>
            </a:r>
            <a:r>
              <a:rPr lang="en-US"/>
              <a:t>e il </a:t>
            </a:r>
            <a:r>
              <a:rPr lang="en-US" i="1"/>
              <a:t>Web Server</a:t>
            </a:r>
            <a:r>
              <a:rPr lang="en-US"/>
              <a:t>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L'interfaccia utente si aggiorna tramite</a:t>
            </a:r>
            <a:r>
              <a:rPr lang="en-US" i="1"/>
              <a:t> HTTP Polling</a:t>
            </a:r>
            <a:r>
              <a:rPr lang="en-US"/>
              <a:t>, mentre il server recupera lo stato interno dell'orchestratore sfruttando il protocollo </a:t>
            </a:r>
            <a:r>
              <a:rPr lang="en-US" b="1"/>
              <a:t>CoAP</a:t>
            </a:r>
            <a:r>
              <a:rPr lang="en-US"/>
              <a:t>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Il Broker MQTT e il simulatore 3D sono isolati all'interno di container </a:t>
            </a:r>
            <a:r>
              <a:rPr lang="en-US" b="1"/>
              <a:t>Docker</a:t>
            </a:r>
            <a:r>
              <a:rPr lang="en-US"/>
              <a:t>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Infine, per interagire con i sensori fisici, abbiamo creato un </a:t>
            </a:r>
            <a:r>
              <a:rPr lang="en-US" b="1"/>
              <a:t>Adapter Bridge MQTT</a:t>
            </a:r>
            <a:r>
              <a:rPr lang="en-US"/>
              <a:t> che disaccoppia la logica di alto livello dai protocolli hardware, traducendo i payload MQTT in eventi nativi Qak per il Sonar e il LED.</a:t>
            </a:r>
            <a:endParaRPr/>
          </a:p>
        </p:txBody>
      </p:sp>
      <p:sp>
        <p:nvSpPr>
          <p:cNvPr id="176" name="Google Shape;176;g3f557e0ab7b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Il vero banco di prova è stata l</a:t>
            </a:r>
            <a:r>
              <a:rPr lang="en-US" b="1"/>
              <a:t>'Integrazione Hardware finale</a:t>
            </a:r>
            <a:r>
              <a:rPr lang="en-US"/>
              <a:t>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Grazie al disaccoppiamento basato su MQTT, il passaggio dal simulatore al dispositivo fisico è avvenuto senza dover toccare una singola riga di codice dell'orchestratore.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Sul Raspberry Pi abbiamo scritto codice MicroPython puramente asincrono sfruttando </a:t>
            </a:r>
            <a:r>
              <a:rPr lang="en-US" b="1" i="1"/>
              <a:t>uasyncio</a:t>
            </a:r>
            <a:r>
              <a:rPr lang="en-US"/>
              <a:t>: questo ci permette di gestire in modo concorrente e non bloccante la lettura del Sonar, il lampeggio del LED e la ricezione di rete.</a:t>
            </a:r>
            <a:endParaRPr/>
          </a:p>
        </p:txBody>
      </p:sp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 la sicurezza, abbiamo implementato un protocollo di allarme robusto.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il Sonar rileva un'anomalia (superando la soglia DFREE per un timeout di 3 secondi), il sistema solleva un evento di allarme, bloccando istantaneamente il robot e accendendo il LED fisso.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Il vero punto di forza è il </a:t>
            </a:r>
            <a:r>
              <a:rPr lang="en-US" b="1"/>
              <a:t>Ripristino Automatico</a:t>
            </a:r>
            <a:r>
              <a:rPr lang="en-US"/>
              <a:t>: appena l'ostacolo viene rimosso, il robot non riparte da zero, ma recupera la sua variabile di stato interna (</a:t>
            </a:r>
            <a:r>
              <a:rPr lang="en-US" b="1" i="1"/>
              <a:t>CurrentDest</a:t>
            </a:r>
            <a:r>
              <a:rPr lang="en-US"/>
              <a:t>) e riprende esattamente il tragitto interrotto</a:t>
            </a:r>
            <a:endParaRPr/>
          </a:p>
        </p:txBody>
      </p:sp>
      <p:sp>
        <p:nvSpPr>
          <p:cNvPr id="212" name="Google Shape;2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Infine, la validazione.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L'affidabilità è garantita da una suite di test multilivello. Abbiamo automatizzato l'Integrazione Logica e la Sicurezza tramite test JUnit, simulando l'arrivo dei container e la caduta del Sonar.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questi abbiamo affiancato Test Funzionali end-to-end via CoAP e Hardware Test reali, dove abbiamo dimostrato con successo la perfetta sincronia cyber-fisica: infatti mettendo una mano davanti al Sonar reale, il robot nel simulatore 3D si arresta istantaneamente.</a:t>
            </a:r>
            <a:endParaRPr/>
          </a:p>
        </p:txBody>
      </p:sp>
      <p:sp>
        <p:nvSpPr>
          <p:cNvPr id="240" name="Google Shape;2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2172950" cy="683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24975" y="-46672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66725" y="446722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598937"/>
            <a:ext cx="8572500" cy="461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38700" y="1796950"/>
            <a:ext cx="25146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595437" y="2301775"/>
            <a:ext cx="9001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Sistema </a:t>
            </a:r>
            <a:r>
              <a:rPr lang="en-US" sz="48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cargoservice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595437" y="3067496"/>
            <a:ext cx="900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Automazione del Carico Stiva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809750" y="3686621"/>
            <a:ext cx="85725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 sistema software eterogeneo e orchestrato per il trasporto in sicurezza di container tramite un robot mobile autonomo controllato in tempo reale.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924175" y="4846587"/>
            <a:ext cx="28194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componenti:</a:t>
            </a:r>
            <a:r>
              <a:rPr lang="en-US" sz="1125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 Carini, Lauriola</a:t>
            </a:r>
            <a:r>
              <a:rPr lang="en-US" sz="1125" b="0" i="0" u="none" strike="noStrike" cap="non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-US" sz="1125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Pipola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124575" y="4846587"/>
            <a:ext cx="3143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github.com/riccardocar99/cargoservice-</a:t>
            </a:r>
            <a:endParaRPr sz="10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924175" y="4875162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24575" y="4875162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2172950" cy="683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24975" y="-46672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122414"/>
            <a:ext cx="110299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11213" y="288428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17605" y="3598664"/>
            <a:ext cx="2663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Sprint 0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6275" y="3979664"/>
            <a:ext cx="234630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Analisi Requisiti:</a:t>
            </a: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Vocabolario formale dei vincoli e modello formale Qak iniziale.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42221" y="288428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3348614" y="3598664"/>
            <a:ext cx="2663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Sprint 1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507283" y="3979664"/>
            <a:ext cx="234630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Architettura Logica:</a:t>
            </a: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Core logic (cargoservice), superamento del gap cartesiano e test JUnit.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73230" y="288428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179622" y="3598664"/>
            <a:ext cx="2663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Sprint 2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338292" y="3979664"/>
            <a:ext cx="234630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Distribuzione Rete:</a:t>
            </a: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Integrazione web server CoAP/HTTP per IOPort e simulazione sonar/led via MQTT.</a:t>
            </a:r>
            <a:endParaRPr/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04239" y="288428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9010631" y="3598664"/>
            <a:ext cx="2663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Sprint 3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169300" y="3979664"/>
            <a:ext cx="23463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Hardware Reale:</a:t>
            </a: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Integrazione della scheda fisica Raspberry Pi Pico W con sensore sonar HC-SR04 e LED reali.</a:t>
            </a:r>
            <a:endParaRPr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782663" y="304621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13671" y="304621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44680" y="304621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5689" y="3046214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581025" y="485775"/>
            <a:ext cx="1158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 err="1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Processo</a:t>
            </a:r>
            <a:r>
              <a:rPr lang="en-US" sz="2850" b="0" i="0" u="none" strike="noStrike" cap="none" dirty="0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 di </a:t>
            </a:r>
            <a:r>
              <a:rPr lang="en-US" sz="2850" b="0" i="0" u="none" strike="noStrike" cap="none" dirty="0" err="1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Sviluppo</a:t>
            </a:r>
            <a:r>
              <a:rPr lang="en-US" sz="2850" b="0" i="0" u="none" strike="noStrike" cap="none" dirty="0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 ad </a:t>
            </a:r>
            <a:r>
              <a:rPr lang="en-US" sz="2850" b="0" i="0" u="none" strike="noStrike" cap="none" dirty="0" err="1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Incrementi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2172950" cy="683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466725" y="446722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181100"/>
            <a:ext cx="5348287" cy="519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62687" y="1181100"/>
            <a:ext cx="5348287" cy="519112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1238250" y="2709862"/>
            <a:ext cx="456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Vocabolario e Vincoli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005637" y="2105025"/>
            <a:ext cx="447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Contesti Qak Centrali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948487" y="3895725"/>
            <a:ext cx="453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Nodi ed Interfacce Esterne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74320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1162050" y="3119437"/>
            <a:ext cx="44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Mappatura formale di </a:t>
            </a: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"stiva piena"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"fuori servizio"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"presenza container"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162050" y="3690937"/>
            <a:ext cx="44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Definizione dei vincoli fisici e delle distanze critiche del sonar (soglia DFREE).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162050" y="4271962"/>
            <a:ext cx="44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Garantita tracciabilità bidirezionale tra requisiti testuali ed eventi del sistema.</a:t>
            </a:r>
            <a:endParaRPr/>
          </a:p>
        </p:txBody>
      </p:sp>
      <p:pic>
        <p:nvPicPr>
          <p:cNvPr id="135" name="Google Shape;13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05587" y="213836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6843712" y="2514600"/>
            <a:ext cx="44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ctx_cargoservice: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Contesto logico di controllo centrale (orchestratore, driver robot e proxy).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843712" y="3086100"/>
            <a:ext cx="44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ctxrobotsmart: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Contesto remoto per la gestione del movimento (pianificatore).</a:t>
            </a:r>
            <a:endParaRPr/>
          </a:p>
        </p:txBody>
      </p:sp>
      <p:pic>
        <p:nvPicPr>
          <p:cNvPr id="138" name="Google Shape;13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05587" y="39290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6843712" y="4305300"/>
            <a:ext cx="44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IOPort WebGUI: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Interfaccia utente browser connessa via HTTP/CoAP al server web JVM.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843712" y="4876800"/>
            <a:ext cx="44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Pico W (Sonar-Led):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Nodo hardware IoT remoto connesso tramite broker MQTT.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23925" y="3119437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923925" y="3690937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923925" y="4271962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605587" y="2514600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605587" y="3086100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605587" y="4305300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605587" y="4876800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581025" y="485775"/>
            <a:ext cx="1158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Dall'Analisi alla Modellazione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2172950" cy="683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24975" y="-46672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181100"/>
            <a:ext cx="5348287" cy="519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62687" y="1181100"/>
            <a:ext cx="5348287" cy="519112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1266825" y="2828925"/>
            <a:ext cx="453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Orchestratore (cargoservice)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948487" y="2705100"/>
            <a:ext cx="453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Driver Robot (cargorobot)</a:t>
            </a:r>
            <a:endParaRPr/>
          </a:p>
        </p:txBody>
      </p:sp>
      <p:pic>
        <p:nvPicPr>
          <p:cNvPr id="159" name="Google Shape;15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8622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1162050" y="3238500"/>
            <a:ext cx="44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Possiede la conoscenza dello stato logico della stiva di carico.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162050" y="3810000"/>
            <a:ext cx="4424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Effettua la prenotazione logica degli slot disponibili (1-4).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1162050" y="4152900"/>
            <a:ext cx="44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Gestisce gli stati di alto livello indipendentemente dal motore fisico del robot.</a:t>
            </a:r>
            <a:endParaRPr/>
          </a:p>
        </p:txBody>
      </p:sp>
      <p:pic>
        <p:nvPicPr>
          <p:cNvPr id="163" name="Google Shape;16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05587" y="27384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6843712" y="3114675"/>
            <a:ext cx="4424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Risolve il </a:t>
            </a: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gap astrattivo cartesiano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843712" y="3457575"/>
            <a:ext cx="44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Traduce le mete semantiche (ioport, slot1, etc.) in coordinate geometriche (X,Y).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843712" y="4048125"/>
            <a:ext cx="4424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Interazione asincrona strutturata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tramite messaggi Qak Request-Reply per attendere il completamento di ogni movimento.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923925" y="3238500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923925" y="3810000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923925" y="4152900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605587" y="3114675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6605587" y="3457575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6605587" y="4048125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581025" y="485775"/>
            <a:ext cx="1158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Architettura Logica del Controllo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2172950" cy="683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466725" y="446722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181100"/>
            <a:ext cx="5348287" cy="519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62687" y="1181100"/>
            <a:ext cx="5348287" cy="519112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1266825" y="2595562"/>
            <a:ext cx="453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Host JVM &amp; Docker Core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977062" y="2709862"/>
            <a:ext cx="450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MQTT Adapter Bridge</a:t>
            </a:r>
            <a:endParaRPr/>
          </a:p>
        </p:txBody>
      </p:sp>
      <p:pic>
        <p:nvPicPr>
          <p:cNvPr id="184" name="Google Shape;18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6289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1162050" y="3005137"/>
            <a:ext cx="44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Java Virtual Machine: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Esegue il backend Qak e l'IOPort Web Server (porta 8081).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1162050" y="3586162"/>
            <a:ext cx="4424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HTTP Polling &amp; CoAP GET: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Il browser interroga periodicamente il Web Server, che recupera in sincrono lo stato dell'orchestratore via CoAP.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1162050" y="4386262"/>
            <a:ext cx="44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Docker Engine: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Isola il broker MQTT (Mosquitto) e il simulatore grafico 3D (WEnv).</a:t>
            </a:r>
            <a:endParaRPr/>
          </a:p>
        </p:txBody>
      </p:sp>
      <p:pic>
        <p:nvPicPr>
          <p:cNvPr id="188" name="Google Shape;18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05587" y="274320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6843712" y="3119437"/>
            <a:ext cx="44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Disaccoppia l'orchestratore Qak dai protocolli di basso livello.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6843712" y="3690937"/>
            <a:ext cx="44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Converte i payload MQTT provenienti dal sonar in dispatches Qak distance(D).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6843712" y="4271962"/>
            <a:ext cx="44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Invia comandi MQTT per il controllo dinamico dello stato del LED.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923925" y="3005137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923925" y="3586162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923925" y="4386262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6605587" y="3119437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6605587" y="3690937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6605587" y="4271962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581025" y="485775"/>
            <a:ext cx="1158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Architettura Fisica Distribuita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2172950" cy="683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24975" y="-46672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39450" y="480500"/>
            <a:ext cx="6160499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Integrazione Hardware Fisico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5839450" y="909125"/>
            <a:ext cx="6160500" cy="561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C586C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uasyncio </a:t>
            </a:r>
            <a:r>
              <a:rPr lang="en-US" sz="800" b="1">
                <a:solidFill>
                  <a:srgbClr val="C586C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4EC9B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asyncio</a:t>
            </a:r>
            <a:endParaRPr sz="800" b="1">
              <a:solidFill>
                <a:srgbClr val="00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C586C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4EC9B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umqtt_simple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C586C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4EC9B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MQTTClient</a:t>
            </a:r>
            <a:endParaRPr sz="800" b="1">
              <a:solidFill>
                <a:srgbClr val="4EC9B0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sonar_mqtt_loop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00" b="1">
                <a:solidFill>
                  <a:srgbClr val="FFA657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800" b="1">
                <a:solidFill>
                  <a:srgbClr val="C586C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569CD6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800" b="1">
                <a:solidFill>
                  <a:srgbClr val="C586C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sz="800" b="1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D4D4D4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read_sonar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sz="800" b="1">
                <a:solidFill>
                  <a:srgbClr val="FFA657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.publish(</a:t>
            </a:r>
            <a:r>
              <a:rPr lang="en-US" sz="800" b="1">
                <a:solidFill>
                  <a:srgbClr val="A5D6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"cargoservice/pico/sonar"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800" b="1">
                <a:solidFill>
                  <a:srgbClr val="4EC9B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00" b="1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sz="800" b="1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00" b="1">
                <a:solidFill>
                  <a:srgbClr val="A5D6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"MQTT | Published distance:"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800" b="1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800" b="1">
                <a:solidFill>
                  <a:srgbClr val="A5D6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"cm"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800" b="1">
                <a:solidFill>
                  <a:srgbClr val="C586C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4EC9B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C586C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sz="800" b="1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00" b="1">
                <a:solidFill>
                  <a:srgbClr val="A5D6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"Sonar Loop | Error:"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800" b="1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800" b="1">
                <a:solidFill>
                  <a:srgbClr val="C586C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4EC9B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asyncio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.sleep(</a:t>
            </a:r>
            <a:r>
              <a:rPr lang="en-US" sz="800" b="1">
                <a:solidFill>
                  <a:srgbClr val="B5CEA8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0.25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800" b="1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connect_wifi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800" b="1">
                <a:solidFill>
                  <a:srgbClr val="8B949E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# Setup MQTT Client</a:t>
            </a:r>
            <a:endParaRPr sz="800" b="1">
              <a:solidFill>
                <a:srgbClr val="8B949E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800" b="1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D4D4D4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4EC9B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MQTTClient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00" b="1">
                <a:solidFill>
                  <a:srgbClr val="A5D6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"pico_client"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800" b="1">
                <a:solidFill>
                  <a:srgbClr val="79C0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MQTT_BROKER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800" b="1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800" b="1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set_callback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00" b="1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mqtt_callback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800" b="1">
                <a:solidFill>
                  <a:srgbClr val="C586C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800" b="1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800" b="1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connect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800" b="1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800" b="1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subscribe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00" b="1">
                <a:solidFill>
                  <a:srgbClr val="A5D6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"cargoservice/pico/led"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800" b="1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00" b="1">
                <a:solidFill>
                  <a:srgbClr val="A5D6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"MQTT | Connected &amp; Subscribed to cargoservice/pico/led"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800" b="1">
                <a:solidFill>
                  <a:srgbClr val="C586C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4EC9B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C586C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800" b="1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00" b="1">
                <a:solidFill>
                  <a:srgbClr val="A5D6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"MQTT | Initial connection failed:"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800" b="1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800" b="1">
                <a:solidFill>
                  <a:srgbClr val="8B949E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# Launch concurrent async loops</a:t>
            </a:r>
            <a:endParaRPr sz="800" b="1">
              <a:solidFill>
                <a:srgbClr val="8B949E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800" b="1">
                <a:solidFill>
                  <a:srgbClr val="C586C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 b="1">
                <a:solidFill>
                  <a:srgbClr val="4EC9B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asyncio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.gather(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800" b="1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led_control_loop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(),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800" b="1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sonar_mqtt_loop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00" b="1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800" b="1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mqtt_check_loop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00" b="1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 b="1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 sz="800" b="1">
              <a:solidFill>
                <a:srgbClr val="FF7B72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10326310" y="502358"/>
            <a:ext cx="3081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pico_sonar_led.py</a:t>
            </a:r>
            <a:endParaRPr sz="13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192450" y="2383675"/>
            <a:ext cx="5589000" cy="3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Raspberry Pi Pico W</a:t>
            </a:r>
            <a:endParaRPr sz="18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>
              <a:solidFill>
                <a:srgbClr val="F8FAFC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Il passaggio dall'emulatore software all'hardware fisico reale è avvenuto a caldo, senza modificare l'orchestratore, grazie all'interfaccia standardizzata MQTT.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>
              <a:solidFill>
                <a:srgbClr val="F8FAFC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Char char="●"/>
            </a:pPr>
            <a:r>
              <a:rPr lang="en-US" sz="120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Sonar HC-SR04:</a:t>
            </a: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Collegato via pin GPIO per rilevare l'ostacolo.</a:t>
            </a: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Inter"/>
              <a:buChar char="●"/>
            </a:pPr>
            <a:r>
              <a:rPr lang="en-US" sz="120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LED Fisico:</a:t>
            </a: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Lampeggiante in moto, verde fisso in blocco.</a:t>
            </a:r>
            <a:endParaRPr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Inter"/>
              <a:buChar char="●"/>
            </a:pPr>
            <a:r>
              <a:rPr lang="en-US" sz="120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MicroPython:</a:t>
            </a: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Codice pulito e asincrono per l'invio distanze.</a:t>
            </a:r>
            <a:endParaRPr sz="1800">
              <a:solidFill>
                <a:srgbClr val="F8FAFC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466725" y="446722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181100"/>
            <a:ext cx="5348287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62687" y="1181100"/>
            <a:ext cx="5348287" cy="5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1266825" y="2533650"/>
            <a:ext cx="453556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Out of Service (Allarme)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948487" y="2709862"/>
            <a:ext cx="453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Ripristino </a:t>
            </a:r>
            <a:r>
              <a:rPr lang="en-US" sz="180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Auto</a:t>
            </a:r>
            <a:r>
              <a:rPr lang="en-US" sz="180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matico</a:t>
            </a:r>
            <a:endParaRPr/>
          </a:p>
        </p:txBody>
      </p:sp>
      <p:pic>
        <p:nvPicPr>
          <p:cNvPr id="220" name="Google Shape;22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5669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/>
        </p:nvSpPr>
        <p:spPr>
          <a:xfrm>
            <a:off x="1162050" y="2943225"/>
            <a:ext cx="4424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Rilevamento: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Sonar misura una distanza </a:t>
            </a: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maggiore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 DFREE.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1162050" y="3295650"/>
            <a:ext cx="44243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Timeout di Sicurezza: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 la violazione persiste per </a:t>
            </a: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secondi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 fila, scatta la transizione di allarme.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1162050" y="3867150"/>
            <a:ext cx="442436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Arresto Istantaneo: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Viene emesso l'evento alarm(sonar_failure) che arresta il robot.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1162050" y="4448175"/>
            <a:ext cx="44243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Segnalazione Visiva: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Il LED passa da lampeggiante ad acceso fisso.</a:t>
            </a:r>
            <a:endParaRPr/>
          </a:p>
        </p:txBody>
      </p:sp>
      <p:pic>
        <p:nvPicPr>
          <p:cNvPr id="225" name="Google Shape;22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05587" y="27432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6843712" y="3119437"/>
            <a:ext cx="44243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Monitoraggio Attivo: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Il sistema continua a campionare la distanza anche in stato di fermo.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843712" y="3690937"/>
            <a:ext cx="44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Filtro Stabilità: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 rientro dei parametri di sicurezza inizia la procedura di ripristino.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6843712" y="4262437"/>
            <a:ext cx="442436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Resume Activity: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Il robot riprende automaticamente il tragitto memorizzato verso l'ultima destinazione (CurrentDest).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923925" y="2943225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923925" y="329565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923925" y="386715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923925" y="4448175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6605587" y="3119437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6605587" y="3690937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6605587" y="4262437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Protocollo Sicurezza &amp; Gestione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3271425" y="3808625"/>
            <a:ext cx="6300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Strategia Validation &amp; Test Plans</a:t>
            </a:r>
            <a:endParaRPr/>
          </a:p>
        </p:txBody>
      </p:sp>
      <p:graphicFrame>
        <p:nvGraphicFramePr>
          <p:cNvPr id="243" name="Google Shape;243;p20"/>
          <p:cNvGraphicFramePr/>
          <p:nvPr/>
        </p:nvGraphicFramePr>
        <p:xfrm>
          <a:off x="952500" y="2011800"/>
          <a:ext cx="10287000" cy="3261210"/>
        </p:xfrm>
        <a:graphic>
          <a:graphicData uri="http://schemas.openxmlformats.org/drawingml/2006/table">
            <a:tbl>
              <a:tblPr>
                <a:noFill/>
                <a:tableStyleId>{05AD940E-B47E-4D0C-9D39-0C98CCD1D847}</a:tableStyleId>
              </a:tblPr>
              <a:tblGrid>
                <a:gridCol w="167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8BDF8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Test ID</a:t>
                      </a:r>
                      <a:endParaRPr>
                        <a:solidFill>
                          <a:srgbClr val="38BDF8"/>
                        </a:solidFill>
                        <a:latin typeface="Space Grotesk SemiBold"/>
                        <a:ea typeface="Space Grotesk SemiBold"/>
                        <a:cs typeface="Space Grotesk SemiBold"/>
                        <a:sym typeface="Space Grotesk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8BDF8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Ambito</a:t>
                      </a:r>
                      <a:endParaRPr>
                        <a:solidFill>
                          <a:srgbClr val="38BDF8"/>
                        </a:solidFill>
                        <a:latin typeface="Space Grotesk SemiBold"/>
                        <a:ea typeface="Space Grotesk SemiBold"/>
                        <a:cs typeface="Space Grotesk SemiBold"/>
                        <a:sym typeface="Space Grotesk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8BDF8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Azione di Test</a:t>
                      </a:r>
                      <a:endParaRPr>
                        <a:solidFill>
                          <a:srgbClr val="38BDF8"/>
                        </a:solidFill>
                        <a:latin typeface="Space Grotesk SemiBold"/>
                        <a:ea typeface="Space Grotesk SemiBold"/>
                        <a:cs typeface="Space Grotesk SemiBold"/>
                        <a:sym typeface="Space Grotesk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8BDF8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Risultato Atteso/Validazione</a:t>
                      </a:r>
                      <a:endParaRPr>
                        <a:solidFill>
                          <a:srgbClr val="38BDF8"/>
                        </a:solidFill>
                        <a:latin typeface="Space Grotesk SemiBold"/>
                        <a:ea typeface="Space Grotesk SemiBold"/>
                        <a:cs typeface="Space Grotesk SemiBold"/>
                        <a:sym typeface="Space Grotesk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Inter"/>
                          <a:ea typeface="Inter"/>
                          <a:cs typeface="Inter"/>
                          <a:sym typeface="Inter"/>
                        </a:rPr>
                        <a:t>Test Funzionale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Inter"/>
                          <a:ea typeface="Inter"/>
                          <a:cs typeface="Inter"/>
                          <a:sym typeface="Inter"/>
                        </a:rPr>
                        <a:t>Funzionale CoAP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Inter"/>
                          <a:ea typeface="Inter"/>
                          <a:cs typeface="Inter"/>
                          <a:sym typeface="Inter"/>
                        </a:rPr>
                        <a:t>Richiesta di load a stiva piena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Inter"/>
                          <a:ea typeface="Inter"/>
                          <a:cs typeface="Inter"/>
                          <a:sym typeface="Inter"/>
                        </a:rPr>
                        <a:t>Risposta immediata di errore CoAP: il robot rimane immobile in Home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JUnit Test 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Inter"/>
                          <a:ea typeface="Inter"/>
                          <a:cs typeface="Inter"/>
                          <a:sym typeface="Inter"/>
                        </a:rPr>
                        <a:t>Integrazione Logica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Inter"/>
                          <a:ea typeface="Inter"/>
                          <a:cs typeface="Inter"/>
                          <a:sym typeface="Inter"/>
                        </a:rPr>
                        <a:t>Carico di container su stiva vuota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Inter"/>
                          <a:ea typeface="Inter"/>
                          <a:cs typeface="Inter"/>
                          <a:sym typeface="Inter"/>
                        </a:rPr>
                        <a:t>Transito completo delle aree del robot e riserva dello slot logico 1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JUnit Test 3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Inter"/>
                          <a:ea typeface="Inter"/>
                          <a:cs typeface="Inter"/>
                          <a:sym typeface="Inter"/>
                        </a:rPr>
                        <a:t>Sicurezza Sonar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Inter"/>
                          <a:ea typeface="Inter"/>
                          <a:cs typeface="Inter"/>
                          <a:sym typeface="Inter"/>
                        </a:rPr>
                        <a:t>Simulazione distanza di allarme su mock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Inter"/>
                          <a:ea typeface="Inter"/>
                          <a:cs typeface="Inter"/>
                          <a:sym typeface="Inter"/>
                        </a:rPr>
                        <a:t>Emissione di alarm, transizione di blocco e ripresa automatica del robot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Inter"/>
                          <a:ea typeface="Inter"/>
                          <a:cs typeface="Inter"/>
                          <a:sym typeface="Inter"/>
                        </a:rPr>
                        <a:t>Hardware Test 1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Inter"/>
                          <a:ea typeface="Inter"/>
                          <a:cs typeface="Inter"/>
                          <a:sym typeface="Inter"/>
                        </a:rPr>
                        <a:t>Interazione HW Reale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Inter"/>
                          <a:ea typeface="Inter"/>
                          <a:cs typeface="Inter"/>
                          <a:sym typeface="Inter"/>
                        </a:rPr>
                        <a:t>Interruzione del sonar reale HC-SR04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Inter"/>
                          <a:ea typeface="Inter"/>
                          <a:cs typeface="Inter"/>
                          <a:sym typeface="Inter"/>
                        </a:rPr>
                        <a:t>Arresto istantaneo nel simulatore 3D e accensione del LED rosso fisico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A5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24975" y="-46672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466725" y="446722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1595412" y="3013354"/>
            <a:ext cx="9001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Grazie per l’attenzione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1809750" y="3917479"/>
            <a:ext cx="8572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Sistema cargoservice - Fine Presentazione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1665</Words>
  <Application>Microsoft Office PowerPoint</Application>
  <PresentationFormat>Widescreen</PresentationFormat>
  <Paragraphs>197</Paragraphs>
  <Slides>9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9" baseType="lpstr">
      <vt:lpstr>Inter Medium</vt:lpstr>
      <vt:lpstr>Space Grotesk SemiBold</vt:lpstr>
      <vt:lpstr>Calibri</vt:lpstr>
      <vt:lpstr>Space Grotesk</vt:lpstr>
      <vt:lpstr>Space Grotesk Medium</vt:lpstr>
      <vt:lpstr>Inter</vt:lpstr>
      <vt:lpstr>Courier New</vt:lpstr>
      <vt:lpstr>Inter SemiBold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Luigi Lauriola - luigi.lauriola2@studio.unibo.it</cp:lastModifiedBy>
  <cp:revision>1</cp:revision>
  <dcterms:modified xsi:type="dcterms:W3CDTF">2026-07-20T14:53:41Z</dcterms:modified>
</cp:coreProperties>
</file>