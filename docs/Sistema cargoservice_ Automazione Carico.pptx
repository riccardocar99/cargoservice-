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9144000"/>
  <p:embeddedFontLst>
    <p:embeddedFont>
      <p:font typeface="Inter" panose="020B0604020202020204" charset="0"/>
      <p:regular r:id="rId12"/>
      <p:bold r:id="rId13"/>
      <p:italic r:id="rId14"/>
      <p:boldItalic r:id="rId15"/>
    </p:embeddedFont>
    <p:embeddedFont>
      <p:font typeface="Inter Medium" panose="020B0604020202020204" charset="0"/>
      <p:regular r:id="rId16"/>
      <p:bold r:id="rId17"/>
      <p:italic r:id="rId18"/>
      <p:boldItalic r:id="rId19"/>
    </p:embeddedFont>
    <p:embeddedFont>
      <p:font typeface="Inter SemiBold" panose="020B0604020202020204" charset="0"/>
      <p:regular r:id="rId20"/>
      <p:bold r:id="rId21"/>
      <p:italic r:id="rId22"/>
      <p:boldItalic r:id="rId23"/>
    </p:embeddedFont>
    <p:embeddedFont>
      <p:font typeface="Space Grotesk" panose="020B0604020202020204" charset="0"/>
      <p:regular r:id="rId24"/>
      <p:bold r:id="rId25"/>
    </p:embeddedFont>
    <p:embeddedFont>
      <p:font typeface="Space Grotesk Medium" panose="020B0604020202020204" charset="0"/>
      <p:regular r:id="rId26"/>
      <p:bold r:id="rId27"/>
    </p:embeddedFont>
    <p:embeddedFont>
      <p:font typeface="Space Grotesk SemiBold" panose="020B0604020202020204" charset="0"/>
      <p:regular r:id="rId28"/>
      <p:bold r:id="rId29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05AD940E-B47E-4D0C-9D39-0C98CCD1D847}">
  <a:tblStyle styleId="{05AD940E-B47E-4D0C-9D39-0C98CCD1D847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9928" autoAdjust="0"/>
  </p:normalViewPr>
  <p:slideViewPr>
    <p:cSldViewPr snapToGrid="0">
      <p:cViewPr varScale="1">
        <p:scale>
          <a:sx n="100" d="100"/>
          <a:sy n="100" d="100"/>
        </p:scale>
        <p:origin x="954" y="108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font" Target="fonts/font2.fntdata"/><Relationship Id="rId18" Type="http://schemas.openxmlformats.org/officeDocument/2006/relationships/font" Target="fonts/font7.fntdata"/><Relationship Id="rId26" Type="http://schemas.openxmlformats.org/officeDocument/2006/relationships/font" Target="fonts/font15.fntdata"/><Relationship Id="rId3" Type="http://schemas.openxmlformats.org/officeDocument/2006/relationships/slide" Target="slides/slide2.xml"/><Relationship Id="rId21" Type="http://schemas.openxmlformats.org/officeDocument/2006/relationships/font" Target="fonts/font10.fntdata"/><Relationship Id="rId7" Type="http://schemas.openxmlformats.org/officeDocument/2006/relationships/slide" Target="slides/slide6.xml"/><Relationship Id="rId12" Type="http://schemas.openxmlformats.org/officeDocument/2006/relationships/font" Target="fonts/font1.fntdata"/><Relationship Id="rId17" Type="http://schemas.openxmlformats.org/officeDocument/2006/relationships/font" Target="fonts/font6.fntdata"/><Relationship Id="rId25" Type="http://schemas.openxmlformats.org/officeDocument/2006/relationships/font" Target="fonts/font14.fntdata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font" Target="fonts/font5.fntdata"/><Relationship Id="rId20" Type="http://schemas.openxmlformats.org/officeDocument/2006/relationships/font" Target="fonts/font9.fntdata"/><Relationship Id="rId29" Type="http://schemas.openxmlformats.org/officeDocument/2006/relationships/font" Target="fonts/font18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24" Type="http://schemas.openxmlformats.org/officeDocument/2006/relationships/font" Target="fonts/font13.fntdata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font" Target="fonts/font4.fntdata"/><Relationship Id="rId23" Type="http://schemas.openxmlformats.org/officeDocument/2006/relationships/font" Target="fonts/font12.fntdata"/><Relationship Id="rId28" Type="http://schemas.openxmlformats.org/officeDocument/2006/relationships/font" Target="fonts/font17.fntdata"/><Relationship Id="rId10" Type="http://schemas.openxmlformats.org/officeDocument/2006/relationships/slide" Target="slides/slide9.xml"/><Relationship Id="rId19" Type="http://schemas.openxmlformats.org/officeDocument/2006/relationships/font" Target="fonts/font8.fntdata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3.fntdata"/><Relationship Id="rId22" Type="http://schemas.openxmlformats.org/officeDocument/2006/relationships/font" Target="fonts/font11.fntdata"/><Relationship Id="rId27" Type="http://schemas.openxmlformats.org/officeDocument/2006/relationships/font" Target="fonts/font16.fntdata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f557e0ab7b_0_2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Buongiorno a tutti. 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Il </a:t>
            </a:r>
            <a:r>
              <a:rPr lang="en-US" dirty="0" err="1"/>
              <a:t>progetto</a:t>
            </a:r>
            <a:r>
              <a:rPr lang="en-US" dirty="0"/>
              <a:t> </a:t>
            </a:r>
            <a:r>
              <a:rPr lang="en-US" dirty="0" err="1"/>
              <a:t>consiste</a:t>
            </a:r>
            <a:r>
              <a:rPr lang="en-US" dirty="0"/>
              <a:t> in un </a:t>
            </a:r>
            <a:r>
              <a:rPr lang="en-US" dirty="0" err="1"/>
              <a:t>sistema</a:t>
            </a:r>
            <a:r>
              <a:rPr lang="en-US" dirty="0"/>
              <a:t> </a:t>
            </a:r>
            <a:r>
              <a:rPr lang="en-US" dirty="0" err="1"/>
              <a:t>distribuito</a:t>
            </a:r>
            <a:r>
              <a:rPr lang="en-US" dirty="0"/>
              <a:t> e IoT per </a:t>
            </a:r>
            <a:r>
              <a:rPr lang="en-US" dirty="0" err="1"/>
              <a:t>l'automazione</a:t>
            </a:r>
            <a:r>
              <a:rPr lang="en-US" dirty="0"/>
              <a:t> del </a:t>
            </a:r>
            <a:r>
              <a:rPr lang="en-US" dirty="0" err="1"/>
              <a:t>carico</a:t>
            </a:r>
            <a:r>
              <a:rPr lang="en-US" dirty="0"/>
              <a:t> di </a:t>
            </a:r>
            <a:r>
              <a:rPr lang="en-US" dirty="0" err="1"/>
              <a:t>una</a:t>
            </a:r>
            <a:r>
              <a:rPr lang="en-US" dirty="0"/>
              <a:t> </a:t>
            </a:r>
            <a:r>
              <a:rPr lang="en-US" dirty="0" err="1"/>
              <a:t>stiva</a:t>
            </a:r>
            <a:r>
              <a:rPr lang="en-US" dirty="0"/>
              <a:t>. 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Lo </a:t>
            </a:r>
            <a:r>
              <a:rPr lang="en-US" dirty="0" err="1"/>
              <a:t>scopo</a:t>
            </a:r>
            <a:r>
              <a:rPr lang="en-US" dirty="0"/>
              <a:t> </a:t>
            </a:r>
            <a:r>
              <a:rPr lang="en-US" dirty="0" err="1"/>
              <a:t>dell'architettura</a:t>
            </a:r>
            <a:r>
              <a:rPr lang="en-US" dirty="0"/>
              <a:t> è </a:t>
            </a:r>
            <a:r>
              <a:rPr lang="en-US" dirty="0" err="1"/>
              <a:t>orchestrare</a:t>
            </a:r>
            <a:r>
              <a:rPr lang="en-US" dirty="0"/>
              <a:t>, in </a:t>
            </a:r>
            <a:r>
              <a:rPr lang="en-US" dirty="0" err="1"/>
              <a:t>sicurezza</a:t>
            </a:r>
            <a:r>
              <a:rPr lang="en-US" dirty="0"/>
              <a:t> e in tempo </a:t>
            </a:r>
            <a:r>
              <a:rPr lang="en-US" dirty="0" err="1"/>
              <a:t>reale</a:t>
            </a:r>
            <a:r>
              <a:rPr lang="en-US" dirty="0"/>
              <a:t>, un robot mobile </a:t>
            </a:r>
            <a:r>
              <a:rPr lang="en-US" dirty="0" err="1"/>
              <a:t>autonomo</a:t>
            </a:r>
            <a:r>
              <a:rPr lang="en-US" dirty="0"/>
              <a:t> </a:t>
            </a:r>
            <a:r>
              <a:rPr lang="en-US" dirty="0" err="1"/>
              <a:t>facendolo</a:t>
            </a:r>
            <a:r>
              <a:rPr lang="en-US" dirty="0"/>
              <a:t> </a:t>
            </a:r>
            <a:r>
              <a:rPr lang="en-US" dirty="0" err="1"/>
              <a:t>interagire</a:t>
            </a:r>
            <a:r>
              <a:rPr lang="en-US" dirty="0"/>
              <a:t> con </a:t>
            </a:r>
            <a:r>
              <a:rPr lang="en-US" dirty="0" err="1"/>
              <a:t>dispositivi</a:t>
            </a:r>
            <a:r>
              <a:rPr lang="en-US" dirty="0"/>
              <a:t> </a:t>
            </a:r>
            <a:r>
              <a:rPr lang="en-US" dirty="0" err="1"/>
              <a:t>esterni</a:t>
            </a:r>
            <a:r>
              <a:rPr lang="en-US" dirty="0"/>
              <a:t>.</a:t>
            </a:r>
            <a:endParaRPr dirty="0"/>
          </a:p>
        </p:txBody>
      </p:sp>
      <p:sp>
        <p:nvSpPr>
          <p:cNvPr id="82" name="Google Shape;82;g3f557e0ab7b_0_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3f557e0ab7b_0_11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Per </a:t>
            </a:r>
            <a:r>
              <a:rPr lang="en-US" dirty="0" err="1"/>
              <a:t>gestire</a:t>
            </a:r>
            <a:r>
              <a:rPr lang="en-US" dirty="0"/>
              <a:t> la </a:t>
            </a:r>
            <a:r>
              <a:rPr lang="en-US" dirty="0" err="1"/>
              <a:t>complessità</a:t>
            </a:r>
            <a:r>
              <a:rPr lang="en-US" dirty="0"/>
              <a:t>, </a:t>
            </a:r>
            <a:r>
              <a:rPr lang="en-US" dirty="0" err="1"/>
              <a:t>abbiamo</a:t>
            </a:r>
            <a:r>
              <a:rPr lang="en-US" dirty="0"/>
              <a:t> </a:t>
            </a:r>
            <a:r>
              <a:rPr lang="en-US" dirty="0" err="1"/>
              <a:t>adottato</a:t>
            </a:r>
            <a:r>
              <a:rPr lang="en-US" dirty="0"/>
              <a:t> uno </a:t>
            </a:r>
            <a:r>
              <a:rPr lang="en-US" dirty="0" err="1"/>
              <a:t>sviluppo</a:t>
            </a:r>
            <a:r>
              <a:rPr lang="en-US" dirty="0"/>
              <a:t> ad </a:t>
            </a:r>
            <a:r>
              <a:rPr lang="en-US" dirty="0" err="1"/>
              <a:t>incrementi</a:t>
            </a:r>
            <a:r>
              <a:rPr lang="en-US" dirty="0"/>
              <a:t> </a:t>
            </a:r>
            <a:r>
              <a:rPr lang="en-US" dirty="0" err="1"/>
              <a:t>diviso</a:t>
            </a:r>
            <a:r>
              <a:rPr lang="en-US" dirty="0"/>
              <a:t> in quattro </a:t>
            </a:r>
            <a:r>
              <a:rPr lang="en-US" dirty="0" err="1"/>
              <a:t>fasi</a:t>
            </a:r>
            <a:r>
              <a:rPr lang="en-US" dirty="0"/>
              <a:t>: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lang="en-US" dirty="0"/>
              <a:t>Sprint 0: </a:t>
            </a:r>
            <a:r>
              <a:rPr lang="it-IT" dirty="0"/>
              <a:t>Analisi dei requisiti e chiarimenti sull’</a:t>
            </a:r>
            <a:r>
              <a:rPr lang="it-IT" dirty="0" err="1"/>
              <a:t>abstraction</a:t>
            </a:r>
            <a:r>
              <a:rPr lang="it-IT" dirty="0"/>
              <a:t> gap e una formalizzazione del linguaggio con lo scopo di evitare ambiguità, costruzione di un primo modello formale eseguibile in linguaggio </a:t>
            </a:r>
            <a:r>
              <a:rPr lang="it-IT" dirty="0" err="1"/>
              <a:t>Qak</a:t>
            </a:r>
            <a:r>
              <a:rPr lang="it-IT" dirty="0"/>
              <a:t>.</a:t>
            </a:r>
          </a:p>
          <a:p>
            <a:pPr marL="45720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lang="en-US" dirty="0"/>
              <a:t>Sprint 1: </a:t>
            </a:r>
            <a:r>
              <a:rPr lang="en-US" dirty="0" err="1"/>
              <a:t>Sviluppo</a:t>
            </a:r>
            <a:r>
              <a:rPr lang="en-US" dirty="0"/>
              <a:t> </a:t>
            </a:r>
            <a:r>
              <a:rPr lang="en-US" dirty="0" err="1"/>
              <a:t>dell'architettura</a:t>
            </a:r>
            <a:r>
              <a:rPr lang="en-US" dirty="0"/>
              <a:t> </a:t>
            </a:r>
            <a:r>
              <a:rPr lang="en-US" dirty="0" err="1"/>
              <a:t>logica</a:t>
            </a:r>
            <a:r>
              <a:rPr lang="en-US" dirty="0"/>
              <a:t> centrale e </a:t>
            </a:r>
            <a:r>
              <a:rPr lang="en-US" dirty="0" err="1"/>
              <a:t>superamento</a:t>
            </a:r>
            <a:r>
              <a:rPr lang="en-US" dirty="0"/>
              <a:t> del gap </a:t>
            </a:r>
            <a:r>
              <a:rPr lang="en-US" dirty="0" err="1"/>
              <a:t>cartesiano</a:t>
            </a:r>
            <a:r>
              <a:rPr lang="en-US" dirty="0"/>
              <a:t> per il </a:t>
            </a:r>
            <a:r>
              <a:rPr lang="en-US" dirty="0" err="1"/>
              <a:t>movimento</a:t>
            </a:r>
            <a:r>
              <a:rPr lang="en-US" dirty="0"/>
              <a:t> del robot.</a:t>
            </a:r>
            <a:endParaRPr dirty="0"/>
          </a:p>
          <a:p>
            <a:pPr marL="45720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lang="en-US" dirty="0"/>
              <a:t>Sprint 2: Distribuzione di rete del </a:t>
            </a:r>
            <a:r>
              <a:rPr lang="en-US" dirty="0" err="1"/>
              <a:t>sistema</a:t>
            </a:r>
            <a:r>
              <a:rPr lang="en-US" dirty="0"/>
              <a:t>, </a:t>
            </a:r>
            <a:r>
              <a:rPr lang="en-US" dirty="0" err="1"/>
              <a:t>tramite</a:t>
            </a:r>
            <a:r>
              <a:rPr lang="en-US" dirty="0"/>
              <a:t> </a:t>
            </a:r>
            <a:r>
              <a:rPr lang="en-US" dirty="0" err="1"/>
              <a:t>protocolli</a:t>
            </a:r>
            <a:r>
              <a:rPr lang="en-US" dirty="0"/>
              <a:t> CoAP, HTTP e MQTT, </a:t>
            </a:r>
            <a:r>
              <a:rPr lang="en-US" dirty="0" err="1"/>
              <a:t>introducendo</a:t>
            </a:r>
            <a:r>
              <a:rPr lang="en-US" dirty="0"/>
              <a:t> </a:t>
            </a:r>
            <a:r>
              <a:rPr lang="en-US" dirty="0" err="1"/>
              <a:t>sensori</a:t>
            </a:r>
            <a:r>
              <a:rPr lang="en-US" dirty="0"/>
              <a:t> e LED </a:t>
            </a:r>
            <a:r>
              <a:rPr lang="en-US" dirty="0" err="1"/>
              <a:t>simulati</a:t>
            </a:r>
            <a:r>
              <a:rPr lang="en-US" dirty="0"/>
              <a:t>.</a:t>
            </a:r>
            <a:endParaRPr dirty="0"/>
          </a:p>
          <a:p>
            <a:pPr marL="45720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lang="en-US" dirty="0"/>
              <a:t>Sprint 3: Passaggio finale </a:t>
            </a:r>
            <a:r>
              <a:rPr lang="en-US" dirty="0" err="1"/>
              <a:t>all'hardware</a:t>
            </a:r>
            <a:r>
              <a:rPr lang="en-US" dirty="0"/>
              <a:t> </a:t>
            </a:r>
            <a:r>
              <a:rPr lang="en-US" dirty="0" err="1"/>
              <a:t>fisico</a:t>
            </a:r>
            <a:r>
              <a:rPr lang="en-US" dirty="0"/>
              <a:t>, </a:t>
            </a:r>
            <a:r>
              <a:rPr lang="en-US" dirty="0" err="1"/>
              <a:t>sostituendo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simulatori</a:t>
            </a:r>
            <a:r>
              <a:rPr lang="en-US" dirty="0"/>
              <a:t> con un Raspberry Pi Pico W </a:t>
            </a:r>
            <a:r>
              <a:rPr lang="en-US" dirty="0" err="1"/>
              <a:t>collegato</a:t>
            </a:r>
            <a:r>
              <a:rPr lang="en-US" dirty="0"/>
              <a:t> a un </a:t>
            </a:r>
            <a:r>
              <a:rPr lang="en-US" dirty="0" err="1"/>
              <a:t>vero</a:t>
            </a:r>
            <a:r>
              <a:rPr lang="en-US" dirty="0"/>
              <a:t> Sonar e a un LED.</a:t>
            </a:r>
            <a:endParaRPr dirty="0"/>
          </a:p>
        </p:txBody>
      </p:sp>
      <p:sp>
        <p:nvSpPr>
          <p:cNvPr id="98" name="Google Shape;98;g3f557e0ab7b_0_1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f557e0ab7b_0_2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In questa fase siamo passati dall'analisi alla modellazione dell'architettura. 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Innanzitutto, abbiamo definito un vocabolario e dei vincoli formali. 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Questo passaggio è stato fondamentale per garantirci una rigorosa tracciabilità bidirezionale tra i requisiti testuali forniti dal committente e gli eventi reali del sistema.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A livello architetturale, abbiamo modellato il sistema distribuendolo su diversi nodi:</a:t>
            </a:r>
            <a:endParaRPr/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lang="en-US"/>
              <a:t>Abbiamo due Contesti Qak Centrali: uno dedicato all'orchestratore logico e uno remoto per la pianificazione del movimento del robot.</a:t>
            </a:r>
            <a:endParaRPr/>
          </a:p>
          <a:p>
            <a:pPr marL="45720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lang="en-US"/>
              <a:t>E due Nodi Esterni eterogenei: un'interfaccia web per l'utente (che comunica via HTTP e CoAP) e un nodo IoT fisico remoto per Sonar e LED, integrato tramite broker MQTT.</a:t>
            </a:r>
            <a:endParaRPr/>
          </a:p>
        </p:txBody>
      </p:sp>
      <p:sp>
        <p:nvSpPr>
          <p:cNvPr id="122" name="Google Shape;122;g3f557e0ab7b_0_2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g3f557e0ab7b_0_24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Entrando nel dettaglio dell'Architettura Logica, abbiamo applicato il principio di </a:t>
            </a:r>
            <a:r>
              <a:rPr lang="en-US" b="1"/>
              <a:t>separazione delle responsabilità</a:t>
            </a:r>
            <a:r>
              <a:rPr lang="en-US"/>
              <a:t>. 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lang="en-US"/>
              <a:t>Da un lato c'è </a:t>
            </a:r>
            <a:r>
              <a:rPr lang="en-US" b="1"/>
              <a:t>l'Orchestratore</a:t>
            </a:r>
            <a:r>
              <a:rPr lang="en-US"/>
              <a:t>, che ragiona esclusivamente ad alto livello: prenota gli slot logici e gestisce gli stati della stiva. 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lang="en-US"/>
              <a:t>Dall'altro lato abbiamo isolato il </a:t>
            </a:r>
            <a:r>
              <a:rPr lang="en-US" b="1"/>
              <a:t>Driver Robot</a:t>
            </a:r>
            <a:r>
              <a:rPr lang="en-US"/>
              <a:t>, il cui compito è risolvere il </a:t>
            </a:r>
            <a:r>
              <a:rPr lang="en-US" b="1"/>
              <a:t>gap cartesiano</a:t>
            </a:r>
            <a:r>
              <a:rPr lang="en-US"/>
              <a:t>: prende le mete semantiche (come 'ioport') e le traduce in coordinate geometriche X-Y, comunicando con l'orchestratore in modo asincrono tramite pattern Request-Reply</a:t>
            </a:r>
            <a:endParaRPr/>
          </a:p>
        </p:txBody>
      </p:sp>
      <p:sp>
        <p:nvSpPr>
          <p:cNvPr id="151" name="Google Shape;151;g3f557e0ab7b_0_244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g3f557e0ab7b_0_26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Passando al deployment, l</a:t>
            </a:r>
            <a:r>
              <a:rPr lang="en-US" b="1"/>
              <a:t>'Architettura Fisica</a:t>
            </a:r>
            <a:r>
              <a:rPr lang="en-US"/>
              <a:t> è totalmente distribuita. 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Il core gira su una JVM che ospita il </a:t>
            </a:r>
            <a:r>
              <a:rPr lang="en-US" i="1"/>
              <a:t>backend </a:t>
            </a:r>
            <a:r>
              <a:rPr lang="en-US"/>
              <a:t>e il </a:t>
            </a:r>
            <a:r>
              <a:rPr lang="en-US" i="1"/>
              <a:t>Web Server</a:t>
            </a:r>
            <a:r>
              <a:rPr lang="en-US"/>
              <a:t>. 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L'interfaccia utente si aggiorna tramite</a:t>
            </a:r>
            <a:r>
              <a:rPr lang="en-US" i="1"/>
              <a:t> HTTP Polling</a:t>
            </a:r>
            <a:r>
              <a:rPr lang="en-US"/>
              <a:t>, mentre il server recupera lo stato interno dell'orchestratore sfruttando il protocollo </a:t>
            </a:r>
            <a:r>
              <a:rPr lang="en-US" b="1"/>
              <a:t>CoAP</a:t>
            </a:r>
            <a:r>
              <a:rPr lang="en-US"/>
              <a:t>. 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Il Broker MQTT e il simulatore 3D sono isolati all'interno di container </a:t>
            </a:r>
            <a:r>
              <a:rPr lang="en-US" b="1"/>
              <a:t>Docker</a:t>
            </a:r>
            <a:r>
              <a:rPr lang="en-US"/>
              <a:t>. 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Infine, per interagire con i sensori fisici, abbiamo creato un </a:t>
            </a:r>
            <a:r>
              <a:rPr lang="en-US" b="1"/>
              <a:t>Adapter Bridge MQTT</a:t>
            </a:r>
            <a:r>
              <a:rPr lang="en-US"/>
              <a:t> che disaccoppia la logica di alto livello dai protocolli hardware, traducendo i payload MQTT in eventi nativi Qak per il Sonar e il LED.</a:t>
            </a:r>
            <a:endParaRPr/>
          </a:p>
        </p:txBody>
      </p:sp>
      <p:sp>
        <p:nvSpPr>
          <p:cNvPr id="176" name="Google Shape;176;g3f557e0ab7b_0_268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Il vero banco di prova è stata l</a:t>
            </a:r>
            <a:r>
              <a:rPr lang="en-US" b="1"/>
              <a:t>'Integrazione Hardware finale</a:t>
            </a:r>
            <a:r>
              <a:rPr lang="en-US"/>
              <a:t>. 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Grazie al disaccoppiamento basato su MQTT, il passaggio dal simulatore al dispositivo fisico è avvenuto senza dover toccare una singola riga di codice dell'orchestratore. 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Sul Raspberry Pi abbiamo scritto codice MicroPython puramente asincrono sfruttando </a:t>
            </a:r>
            <a:r>
              <a:rPr lang="en-US" b="1" i="1"/>
              <a:t>uasyncio</a:t>
            </a:r>
            <a:r>
              <a:rPr lang="en-US"/>
              <a:t>: questo ci permette di gestire in modo concorrente e non bloccante la lettura del Sonar, il lampeggio del LED e la ricezione di rete.</a:t>
            </a:r>
            <a:endParaRPr/>
          </a:p>
        </p:txBody>
      </p:sp>
      <p:sp>
        <p:nvSpPr>
          <p:cNvPr id="201" name="Google Shape;201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Per la sicurezza, abbiamo implementato un protocollo di allarme robusto. 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Se il Sonar rileva un'anomalia (superando la soglia DFREE per un timeout di 3 secondi), il sistema solleva un evento di allarme, bloccando istantaneamente il robot e accendendo il LED fisso. 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Il vero punto di forza è il </a:t>
            </a:r>
            <a:r>
              <a:rPr lang="en-US" b="1"/>
              <a:t>Ripristino Automatico</a:t>
            </a:r>
            <a:r>
              <a:rPr lang="en-US"/>
              <a:t>: appena l'ostacolo viene rimosso, il robot non riparte da zero, ma recupera la sua variabile di stato interna (</a:t>
            </a:r>
            <a:r>
              <a:rPr lang="en-US" b="1" i="1"/>
              <a:t>CurrentDest</a:t>
            </a:r>
            <a:r>
              <a:rPr lang="en-US"/>
              <a:t>) e riprende esattamente il tragitto interrotto</a:t>
            </a:r>
            <a:endParaRPr/>
          </a:p>
        </p:txBody>
      </p:sp>
      <p:sp>
        <p:nvSpPr>
          <p:cNvPr id="212" name="Google Shape;212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Google Shape;239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Infine, la validazione. 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L'affidabilità è garantita da una suite di test multilivello. Abbiamo automatizzato l'Integrazione Logica e la Sicurezza tramite test JUnit, simulando l'arrivo dei container e la caduta del Sonar. 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A questi abbiamo affiancato Test Funzionali end-to-end via CoAP e Hardware Test reali, dove abbiamo dimostrato con successo la perfetta sincronia cyber-fisica: infatti mettendo una mano davanti al Sonar reale, il robot nel simulatore 3D si arresta istantaneamente.</a:t>
            </a:r>
            <a:endParaRPr/>
          </a:p>
        </p:txBody>
      </p:sp>
      <p:sp>
        <p:nvSpPr>
          <p:cNvPr id="240" name="Google Shape;240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6" name="Google Shape;246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3"/>
          <p:cNvSpPr txBox="1"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3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3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3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4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4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4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sz="40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6" name="Google Shape;36;p6"/>
          <p:cNvSpPr txBox="1">
            <a:spLocks noGrp="1"/>
          </p:cNvSpPr>
          <p:nvPr>
            <p:ph type="body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7" name="Google Shape;37;p6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6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6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4" name="Google Shape;44;p7"/>
          <p:cNvSpPr txBox="1"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7"/>
          <p:cNvSpPr txBox="1">
            <a:spLocks noGrp="1"/>
          </p:cNvSpPr>
          <p:nvPr>
            <p:ph type="body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6" name="Google Shape;46;p7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7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7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9"/>
          <p:cNvSpPr txBox="1">
            <a:spLocks noGrp="1"/>
          </p:cNvSpPr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9"/>
          <p:cNvSpPr txBox="1"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58" name="Google Shape;58;p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0"/>
          <p:cNvSpPr>
            <a:spLocks noGrp="1"/>
          </p:cNvSpPr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>
            <a:spLocks noGrp="1"/>
          </p:cNvSpPr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5" name="Google Shape;65;p1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1"/>
          <p:cNvSpPr txBox="1">
            <a:spLocks noGrp="1"/>
          </p:cNvSpPr>
          <p:nvPr>
            <p:ph type="body" idx="1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1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>
            <a:spLocks noGrp="1"/>
          </p:cNvSpPr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2"/>
          <p:cNvSpPr txBox="1">
            <a:spLocks noGrp="1"/>
          </p:cNvSpPr>
          <p:nvPr>
            <p:ph type="body" idx="1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transition spd="med">
    <p:fade/>
  </p:transition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1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11" Type="http://schemas.openxmlformats.org/officeDocument/2006/relationships/image" Target="../media/image14.png"/><Relationship Id="rId5" Type="http://schemas.openxmlformats.org/officeDocument/2006/relationships/image" Target="../media/image8.png"/><Relationship Id="rId10" Type="http://schemas.openxmlformats.org/officeDocument/2006/relationships/image" Target="../media/image13.png"/><Relationship Id="rId4" Type="http://schemas.openxmlformats.org/officeDocument/2006/relationships/image" Target="../media/image2.png"/><Relationship Id="rId9" Type="http://schemas.openxmlformats.org/officeDocument/2006/relationships/image" Target="../media/image12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1.png"/><Relationship Id="rId7" Type="http://schemas.openxmlformats.org/officeDocument/2006/relationships/image" Target="../media/image1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3.png"/><Relationship Id="rId9" Type="http://schemas.openxmlformats.org/officeDocument/2006/relationships/image" Target="../media/image19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3" Type="http://schemas.openxmlformats.org/officeDocument/2006/relationships/image" Target="../media/image1.png"/><Relationship Id="rId7" Type="http://schemas.openxmlformats.org/officeDocument/2006/relationships/image" Target="../media/image2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0.png"/><Relationship Id="rId5" Type="http://schemas.openxmlformats.org/officeDocument/2006/relationships/image" Target="../media/image15.png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3" Type="http://schemas.openxmlformats.org/officeDocument/2006/relationships/image" Target="../media/image1.png"/><Relationship Id="rId7" Type="http://schemas.openxmlformats.org/officeDocument/2006/relationships/image" Target="../media/image2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5.png"/><Relationship Id="rId4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png"/><Relationship Id="rId3" Type="http://schemas.openxmlformats.org/officeDocument/2006/relationships/image" Target="../media/image1.png"/><Relationship Id="rId7" Type="http://schemas.openxmlformats.org/officeDocument/2006/relationships/image" Target="../media/image2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3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525" y="9525"/>
            <a:ext cx="12172950" cy="6838951"/>
          </a:xfrm>
          <a:prstGeom prst="rect">
            <a:avLst/>
          </a:prstGeom>
          <a:noFill/>
          <a:ln>
            <a:noFill/>
          </a:ln>
        </p:spPr>
      </p:pic>
      <p:pic>
        <p:nvPicPr>
          <p:cNvPr id="85" name="Google Shape;85;p13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9324975" y="-466725"/>
            <a:ext cx="3333750" cy="3333750"/>
          </a:xfrm>
          <a:prstGeom prst="rect">
            <a:avLst/>
          </a:prstGeom>
          <a:noFill/>
          <a:ln>
            <a:noFill/>
          </a:ln>
        </p:spPr>
      </p:pic>
      <p:pic>
        <p:nvPicPr>
          <p:cNvPr id="86" name="Google Shape;86;p13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-466725" y="4467225"/>
            <a:ext cx="3333750" cy="3333750"/>
          </a:xfrm>
          <a:prstGeom prst="rect">
            <a:avLst/>
          </a:prstGeom>
          <a:noFill/>
          <a:ln>
            <a:noFill/>
          </a:ln>
        </p:spPr>
      </p:pic>
      <p:pic>
        <p:nvPicPr>
          <p:cNvPr id="87" name="Google Shape;87;p13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1809750" y="4598937"/>
            <a:ext cx="8572500" cy="461962"/>
          </a:xfrm>
          <a:prstGeom prst="rect">
            <a:avLst/>
          </a:prstGeom>
          <a:noFill/>
          <a:ln>
            <a:noFill/>
          </a:ln>
        </p:spPr>
      </p:pic>
      <p:pic>
        <p:nvPicPr>
          <p:cNvPr id="88" name="Google Shape;88;p13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4838700" y="1796950"/>
            <a:ext cx="2514600" cy="361950"/>
          </a:xfrm>
          <a:prstGeom prst="rect">
            <a:avLst/>
          </a:prstGeom>
          <a:noFill/>
          <a:ln>
            <a:noFill/>
          </a:ln>
        </p:spPr>
      </p:pic>
      <p:sp>
        <p:nvSpPr>
          <p:cNvPr id="89" name="Google Shape;89;p13"/>
          <p:cNvSpPr txBox="1"/>
          <p:nvPr/>
        </p:nvSpPr>
        <p:spPr>
          <a:xfrm>
            <a:off x="1595437" y="2301775"/>
            <a:ext cx="90012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 b="1" i="0" u="none" strike="noStrike" cap="none">
                <a:solidFill>
                  <a:srgbClr val="F8FAFC"/>
                </a:solidFill>
                <a:latin typeface="Space Grotesk"/>
                <a:ea typeface="Space Grotesk"/>
                <a:cs typeface="Space Grotesk"/>
                <a:sym typeface="Space Grotesk"/>
              </a:rPr>
              <a:t>Sistema </a:t>
            </a:r>
            <a:r>
              <a:rPr lang="en-US" sz="4800" b="1" i="0" u="none" strike="noStrike" cap="none">
                <a:solidFill>
                  <a:srgbClr val="0EA5E9"/>
                </a:solidFill>
                <a:latin typeface="Space Grotesk"/>
                <a:ea typeface="Space Grotesk"/>
                <a:cs typeface="Space Grotesk"/>
                <a:sym typeface="Space Grotesk"/>
              </a:rPr>
              <a:t>cargoservice</a:t>
            </a:r>
            <a:endParaRPr/>
          </a:p>
        </p:txBody>
      </p:sp>
      <p:sp>
        <p:nvSpPr>
          <p:cNvPr id="90" name="Google Shape;90;p13"/>
          <p:cNvSpPr txBox="1"/>
          <p:nvPr/>
        </p:nvSpPr>
        <p:spPr>
          <a:xfrm>
            <a:off x="1595437" y="3067496"/>
            <a:ext cx="9001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38BDF8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rPr>
              <a:t>Automazione del Carico Stiva</a:t>
            </a:r>
            <a:endParaRPr/>
          </a:p>
        </p:txBody>
      </p:sp>
      <p:sp>
        <p:nvSpPr>
          <p:cNvPr id="91" name="Google Shape;91;p13"/>
          <p:cNvSpPr txBox="1"/>
          <p:nvPr/>
        </p:nvSpPr>
        <p:spPr>
          <a:xfrm>
            <a:off x="1809750" y="3686621"/>
            <a:ext cx="8572500" cy="57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992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5" b="0" i="0" u="none" strike="noStrike" cap="non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Un sistema software eterogeneo e orchestrato per il trasporto in sicurezza di container tramite un robot mobile autonomo controllato in tempo reale.</a:t>
            </a:r>
            <a:endParaRPr/>
          </a:p>
        </p:txBody>
      </p:sp>
      <p:sp>
        <p:nvSpPr>
          <p:cNvPr id="92" name="Google Shape;92;p13"/>
          <p:cNvSpPr txBox="1"/>
          <p:nvPr/>
        </p:nvSpPr>
        <p:spPr>
          <a:xfrm>
            <a:off x="2924175" y="4846587"/>
            <a:ext cx="2819400" cy="17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7175" tIns="0" rIns="0" bIns="0" anchor="t" anchorCtr="0">
            <a:spAutoFit/>
          </a:bodyPr>
          <a:lstStyle/>
          <a:p>
            <a:pPr marL="0" marR="0" lvl="0" indent="0" algn="ctr" rtl="0">
              <a:lnSpc>
                <a:spcPct val="1499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25" b="0" i="0" u="none" strike="noStrike" cap="none">
                <a:solidFill>
                  <a:srgbClr val="94A3B8"/>
                </a:solidFill>
                <a:latin typeface="Space Grotesk"/>
                <a:ea typeface="Space Grotesk"/>
                <a:cs typeface="Space Grotesk"/>
                <a:sym typeface="Space Grotesk"/>
              </a:rPr>
              <a:t>componenti:</a:t>
            </a:r>
            <a:r>
              <a:rPr lang="en-US" sz="1125">
                <a:solidFill>
                  <a:srgbClr val="94A3B8"/>
                </a:solidFill>
                <a:latin typeface="Space Grotesk"/>
                <a:ea typeface="Space Grotesk"/>
                <a:cs typeface="Space Grotesk"/>
                <a:sym typeface="Space Grotesk"/>
              </a:rPr>
              <a:t> Carini, Lauriola</a:t>
            </a:r>
            <a:r>
              <a:rPr lang="en-US" sz="1125" b="0" i="0" u="none" strike="noStrike" cap="none">
                <a:solidFill>
                  <a:srgbClr val="94A3B8"/>
                </a:solidFill>
                <a:latin typeface="Space Grotesk"/>
                <a:ea typeface="Space Grotesk"/>
                <a:cs typeface="Space Grotesk"/>
                <a:sym typeface="Space Grotesk"/>
              </a:rPr>
              <a:t>, </a:t>
            </a:r>
            <a:r>
              <a:rPr lang="en-US" sz="1125">
                <a:solidFill>
                  <a:srgbClr val="94A3B8"/>
                </a:solidFill>
                <a:latin typeface="Space Grotesk"/>
                <a:ea typeface="Space Grotesk"/>
                <a:cs typeface="Space Grotesk"/>
                <a:sym typeface="Space Grotesk"/>
              </a:rPr>
              <a:t>Pipola</a:t>
            </a:r>
            <a:endParaRPr/>
          </a:p>
        </p:txBody>
      </p:sp>
      <p:sp>
        <p:nvSpPr>
          <p:cNvPr id="93" name="Google Shape;93;p13"/>
          <p:cNvSpPr txBox="1"/>
          <p:nvPr/>
        </p:nvSpPr>
        <p:spPr>
          <a:xfrm>
            <a:off x="6124575" y="4846587"/>
            <a:ext cx="3143400" cy="1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19075" tIns="0" rIns="0" bIns="0" anchor="t" anchorCtr="0">
            <a:spAutoFit/>
          </a:bodyPr>
          <a:lstStyle/>
          <a:p>
            <a:pPr marL="0" marR="0" lvl="0" indent="0" algn="ctr" rtl="0">
              <a:lnSpc>
                <a:spcPct val="1499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github.com/riccardocar99/cargoservice-</a:t>
            </a:r>
            <a:endParaRPr sz="1050">
              <a:solidFill>
                <a:srgbClr val="94A3B8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94" name="Google Shape;94;p13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2924175" y="4875162"/>
            <a:ext cx="180975" cy="1428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5" name="Google Shape;95;p13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6124575" y="4875162"/>
            <a:ext cx="142875" cy="142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1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525" y="9525"/>
            <a:ext cx="12172950" cy="6838951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" name="Google Shape;101;p14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9324975" y="-466725"/>
            <a:ext cx="3333750" cy="33337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2" name="Google Shape;102;p14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81025" y="3122414"/>
            <a:ext cx="11029950" cy="38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3" name="Google Shape;103;p14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1611213" y="2884289"/>
            <a:ext cx="476250" cy="476250"/>
          </a:xfrm>
          <a:prstGeom prst="rect">
            <a:avLst/>
          </a:prstGeom>
          <a:noFill/>
          <a:ln>
            <a:noFill/>
          </a:ln>
        </p:spPr>
      </p:pic>
      <p:sp>
        <p:nvSpPr>
          <p:cNvPr id="104" name="Google Shape;104;p14"/>
          <p:cNvSpPr txBox="1"/>
          <p:nvPr/>
        </p:nvSpPr>
        <p:spPr>
          <a:xfrm>
            <a:off x="517605" y="3598664"/>
            <a:ext cx="2663700" cy="23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F8FAFC"/>
                </a:solidFill>
                <a:latin typeface="Space Grotesk SemiBold"/>
                <a:ea typeface="Space Grotesk SemiBold"/>
                <a:cs typeface="Space Grotesk SemiBold"/>
                <a:sym typeface="Space Grotesk SemiBold"/>
              </a:rPr>
              <a:t>Sprint 0</a:t>
            </a:r>
            <a:endParaRPr/>
          </a:p>
        </p:txBody>
      </p:sp>
      <p:sp>
        <p:nvSpPr>
          <p:cNvPr id="105" name="Google Shape;105;p14"/>
          <p:cNvSpPr txBox="1"/>
          <p:nvPr/>
        </p:nvSpPr>
        <p:spPr>
          <a:xfrm>
            <a:off x="676275" y="3979664"/>
            <a:ext cx="2346300" cy="61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F8FAFC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Analisi Requisiti:</a:t>
            </a:r>
            <a:r>
              <a:rPr lang="en-US" sz="1050" b="0" i="0" u="none" strike="noStrike" cap="non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Vocabolario formale dei vincoli e modello formale Qak iniziale.</a:t>
            </a:r>
            <a:endParaRPr/>
          </a:p>
        </p:txBody>
      </p:sp>
      <p:pic>
        <p:nvPicPr>
          <p:cNvPr id="106" name="Google Shape;106;p14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4442221" y="2884289"/>
            <a:ext cx="476250" cy="476250"/>
          </a:xfrm>
          <a:prstGeom prst="rect">
            <a:avLst/>
          </a:prstGeom>
          <a:noFill/>
          <a:ln>
            <a:noFill/>
          </a:ln>
        </p:spPr>
      </p:pic>
      <p:sp>
        <p:nvSpPr>
          <p:cNvPr id="107" name="Google Shape;107;p14"/>
          <p:cNvSpPr txBox="1"/>
          <p:nvPr/>
        </p:nvSpPr>
        <p:spPr>
          <a:xfrm>
            <a:off x="3348614" y="3598664"/>
            <a:ext cx="2663700" cy="23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F8FAFC"/>
                </a:solidFill>
                <a:latin typeface="Space Grotesk SemiBold"/>
                <a:ea typeface="Space Grotesk SemiBold"/>
                <a:cs typeface="Space Grotesk SemiBold"/>
                <a:sym typeface="Space Grotesk SemiBold"/>
              </a:rPr>
              <a:t>Sprint 1</a:t>
            </a:r>
            <a:endParaRPr/>
          </a:p>
        </p:txBody>
      </p:sp>
      <p:sp>
        <p:nvSpPr>
          <p:cNvPr id="108" name="Google Shape;108;p14"/>
          <p:cNvSpPr txBox="1"/>
          <p:nvPr/>
        </p:nvSpPr>
        <p:spPr>
          <a:xfrm>
            <a:off x="3507283" y="3979664"/>
            <a:ext cx="2346300" cy="61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F8FAFC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Architettura Logica:</a:t>
            </a:r>
            <a:r>
              <a:rPr lang="en-US" sz="1050" b="0" i="0" u="none" strike="noStrike" cap="non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Core logic (cargoservice), superamento del gap cartesiano e test JUnit.</a:t>
            </a:r>
            <a:endParaRPr/>
          </a:p>
        </p:txBody>
      </p:sp>
      <p:pic>
        <p:nvPicPr>
          <p:cNvPr id="109" name="Google Shape;109;p14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7273230" y="2884289"/>
            <a:ext cx="476250" cy="476250"/>
          </a:xfrm>
          <a:prstGeom prst="rect">
            <a:avLst/>
          </a:prstGeom>
          <a:noFill/>
          <a:ln>
            <a:noFill/>
          </a:ln>
        </p:spPr>
      </p:pic>
      <p:sp>
        <p:nvSpPr>
          <p:cNvPr id="110" name="Google Shape;110;p14"/>
          <p:cNvSpPr txBox="1"/>
          <p:nvPr/>
        </p:nvSpPr>
        <p:spPr>
          <a:xfrm>
            <a:off x="6179622" y="3598664"/>
            <a:ext cx="2663700" cy="23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F8FAFC"/>
                </a:solidFill>
                <a:latin typeface="Space Grotesk SemiBold"/>
                <a:ea typeface="Space Grotesk SemiBold"/>
                <a:cs typeface="Space Grotesk SemiBold"/>
                <a:sym typeface="Space Grotesk SemiBold"/>
              </a:rPr>
              <a:t>Sprint 2</a:t>
            </a:r>
            <a:endParaRPr/>
          </a:p>
        </p:txBody>
      </p:sp>
      <p:sp>
        <p:nvSpPr>
          <p:cNvPr id="111" name="Google Shape;111;p14"/>
          <p:cNvSpPr txBox="1"/>
          <p:nvPr/>
        </p:nvSpPr>
        <p:spPr>
          <a:xfrm>
            <a:off x="6338292" y="3979664"/>
            <a:ext cx="2346300" cy="61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F8FAFC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Distribuzione Rete:</a:t>
            </a:r>
            <a:r>
              <a:rPr lang="en-US" sz="1050" b="0" i="0" u="none" strike="noStrike" cap="non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Integrazione web server CoAP/HTTP per IOPort e simulazione sonar/led via MQTT.</a:t>
            </a:r>
            <a:endParaRPr/>
          </a:p>
        </p:txBody>
      </p:sp>
      <p:pic>
        <p:nvPicPr>
          <p:cNvPr id="112" name="Google Shape;112;p14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10104239" y="2884289"/>
            <a:ext cx="476250" cy="476250"/>
          </a:xfrm>
          <a:prstGeom prst="rect">
            <a:avLst/>
          </a:prstGeom>
          <a:noFill/>
          <a:ln>
            <a:noFill/>
          </a:ln>
        </p:spPr>
      </p:pic>
      <p:sp>
        <p:nvSpPr>
          <p:cNvPr id="113" name="Google Shape;113;p14"/>
          <p:cNvSpPr txBox="1"/>
          <p:nvPr/>
        </p:nvSpPr>
        <p:spPr>
          <a:xfrm>
            <a:off x="9010631" y="3598664"/>
            <a:ext cx="2663700" cy="23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4D399"/>
                </a:solidFill>
                <a:latin typeface="Space Grotesk SemiBold"/>
                <a:ea typeface="Space Grotesk SemiBold"/>
                <a:cs typeface="Space Grotesk SemiBold"/>
                <a:sym typeface="Space Grotesk SemiBold"/>
              </a:rPr>
              <a:t>Sprint 3</a:t>
            </a:r>
            <a:endParaRPr/>
          </a:p>
        </p:txBody>
      </p:sp>
      <p:sp>
        <p:nvSpPr>
          <p:cNvPr id="114" name="Google Shape;114;p14"/>
          <p:cNvSpPr txBox="1"/>
          <p:nvPr/>
        </p:nvSpPr>
        <p:spPr>
          <a:xfrm>
            <a:off x="9169300" y="3979664"/>
            <a:ext cx="2346300" cy="84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F8FAFC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Hardware Reale:</a:t>
            </a:r>
            <a:r>
              <a:rPr lang="en-US" sz="1050" b="0" i="0" u="none" strike="noStrike" cap="non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Integrazione della scheda fisica Raspberry Pi Pico W con sensore sonar HC-SR04 e LED reali.</a:t>
            </a:r>
            <a:endParaRPr/>
          </a:p>
        </p:txBody>
      </p:sp>
      <p:pic>
        <p:nvPicPr>
          <p:cNvPr id="115" name="Google Shape;115;p14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1782663" y="3046214"/>
            <a:ext cx="133350" cy="152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6" name="Google Shape;116;p14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4613671" y="3046214"/>
            <a:ext cx="133350" cy="152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14" descr="image.png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7444680" y="3046214"/>
            <a:ext cx="133350" cy="152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8" name="Google Shape;118;p14" descr="image.png"/>
          <p:cNvPicPr preferRelativeResize="0"/>
          <p:nvPr/>
        </p:nvPicPr>
        <p:blipFill rotWithShape="1">
          <a:blip r:embed="rId11">
            <a:alphaModFix/>
          </a:blip>
          <a:srcRect/>
          <a:stretch/>
        </p:blipFill>
        <p:spPr>
          <a:xfrm>
            <a:off x="10275689" y="3046214"/>
            <a:ext cx="133350" cy="152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9" name="Google Shape;119;p14"/>
          <p:cNvSpPr txBox="1"/>
          <p:nvPr/>
        </p:nvSpPr>
        <p:spPr>
          <a:xfrm>
            <a:off x="581025" y="485775"/>
            <a:ext cx="11581500" cy="43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50" b="0" i="0" u="none" strike="noStrike" cap="none" dirty="0" err="1">
                <a:solidFill>
                  <a:srgbClr val="38BDF8"/>
                </a:solidFill>
                <a:latin typeface="Space Grotesk SemiBold"/>
                <a:ea typeface="Space Grotesk SemiBold"/>
                <a:cs typeface="Space Grotesk SemiBold"/>
                <a:sym typeface="Space Grotesk SemiBold"/>
              </a:rPr>
              <a:t>Processo</a:t>
            </a:r>
            <a:r>
              <a:rPr lang="en-US" sz="2850" b="0" i="0" u="none" strike="noStrike" cap="none" dirty="0">
                <a:solidFill>
                  <a:srgbClr val="38BDF8"/>
                </a:solidFill>
                <a:latin typeface="Space Grotesk SemiBold"/>
                <a:ea typeface="Space Grotesk SemiBold"/>
                <a:cs typeface="Space Grotesk SemiBold"/>
                <a:sym typeface="Space Grotesk SemiBold"/>
              </a:rPr>
              <a:t> di </a:t>
            </a:r>
            <a:r>
              <a:rPr lang="en-US" sz="2850" b="0" i="0" u="none" strike="noStrike" cap="none" dirty="0" err="1">
                <a:solidFill>
                  <a:srgbClr val="38BDF8"/>
                </a:solidFill>
                <a:latin typeface="Space Grotesk SemiBold"/>
                <a:ea typeface="Space Grotesk SemiBold"/>
                <a:cs typeface="Space Grotesk SemiBold"/>
                <a:sym typeface="Space Grotesk SemiBold"/>
              </a:rPr>
              <a:t>Sviluppo</a:t>
            </a:r>
            <a:r>
              <a:rPr lang="en-US" sz="2850" b="0" i="0" u="none" strike="noStrike" cap="none" dirty="0">
                <a:solidFill>
                  <a:srgbClr val="38BDF8"/>
                </a:solidFill>
                <a:latin typeface="Space Grotesk SemiBold"/>
                <a:ea typeface="Space Grotesk SemiBold"/>
                <a:cs typeface="Space Grotesk SemiBold"/>
                <a:sym typeface="Space Grotesk SemiBold"/>
              </a:rPr>
              <a:t> ad </a:t>
            </a:r>
            <a:r>
              <a:rPr lang="en-US" sz="2850" b="0" i="0" u="none" strike="noStrike" cap="none" dirty="0" err="1">
                <a:solidFill>
                  <a:srgbClr val="38BDF8"/>
                </a:solidFill>
                <a:latin typeface="Space Grotesk SemiBold"/>
                <a:ea typeface="Space Grotesk SemiBold"/>
                <a:cs typeface="Space Grotesk SemiBold"/>
                <a:sym typeface="Space Grotesk SemiBold"/>
              </a:rPr>
              <a:t>Incrementi</a:t>
            </a:r>
            <a:endParaRPr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4" name="Google Shape;124;p15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525" y="9525"/>
            <a:ext cx="12172950" cy="6838951"/>
          </a:xfrm>
          <a:prstGeom prst="rect">
            <a:avLst/>
          </a:prstGeom>
          <a:noFill/>
          <a:ln>
            <a:noFill/>
          </a:ln>
        </p:spPr>
      </p:pic>
      <p:pic>
        <p:nvPicPr>
          <p:cNvPr id="125" name="Google Shape;125;p15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-466725" y="4467225"/>
            <a:ext cx="3333750" cy="33337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6" name="Google Shape;126;p15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81025" y="1181100"/>
            <a:ext cx="5348287" cy="5191124"/>
          </a:xfrm>
          <a:prstGeom prst="rect">
            <a:avLst/>
          </a:prstGeom>
          <a:noFill/>
          <a:ln>
            <a:noFill/>
          </a:ln>
        </p:spPr>
      </p:pic>
      <p:pic>
        <p:nvPicPr>
          <p:cNvPr id="127" name="Google Shape;127;p15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6262687" y="1181100"/>
            <a:ext cx="5348287" cy="519112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5"/>
          <p:cNvSpPr txBox="1"/>
          <p:nvPr/>
        </p:nvSpPr>
        <p:spPr>
          <a:xfrm>
            <a:off x="1238250" y="2709862"/>
            <a:ext cx="4565700" cy="2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38BDF8"/>
                </a:solidFill>
                <a:latin typeface="Space Grotesk SemiBold"/>
                <a:ea typeface="Space Grotesk SemiBold"/>
                <a:cs typeface="Space Grotesk SemiBold"/>
                <a:sym typeface="Space Grotesk SemiBold"/>
              </a:rPr>
              <a:t>Vocabolario e Vincoli</a:t>
            </a:r>
            <a:endParaRPr/>
          </a:p>
        </p:txBody>
      </p:sp>
      <p:sp>
        <p:nvSpPr>
          <p:cNvPr id="129" name="Google Shape;129;p15"/>
          <p:cNvSpPr txBox="1"/>
          <p:nvPr/>
        </p:nvSpPr>
        <p:spPr>
          <a:xfrm>
            <a:off x="7005637" y="2105025"/>
            <a:ext cx="4475700" cy="2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38BDF8"/>
                </a:solidFill>
                <a:latin typeface="Space Grotesk SemiBold"/>
                <a:ea typeface="Space Grotesk SemiBold"/>
                <a:cs typeface="Space Grotesk SemiBold"/>
                <a:sym typeface="Space Grotesk SemiBold"/>
              </a:rPr>
              <a:t>Contesti Qak Centrali</a:t>
            </a:r>
            <a:endParaRPr/>
          </a:p>
        </p:txBody>
      </p:sp>
      <p:sp>
        <p:nvSpPr>
          <p:cNvPr id="130" name="Google Shape;130;p15"/>
          <p:cNvSpPr txBox="1"/>
          <p:nvPr/>
        </p:nvSpPr>
        <p:spPr>
          <a:xfrm>
            <a:off x="6948487" y="3895725"/>
            <a:ext cx="4535700" cy="2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38BDF8"/>
                </a:solidFill>
                <a:latin typeface="Space Grotesk SemiBold"/>
                <a:ea typeface="Space Grotesk SemiBold"/>
                <a:cs typeface="Space Grotesk SemiBold"/>
                <a:sym typeface="Space Grotesk SemiBold"/>
              </a:rPr>
              <a:t>Nodi ed Interfacce Esterne</a:t>
            </a:r>
            <a:endParaRPr/>
          </a:p>
        </p:txBody>
      </p:sp>
      <p:pic>
        <p:nvPicPr>
          <p:cNvPr id="131" name="Google Shape;131;p15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923925" y="2743200"/>
            <a:ext cx="200025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132" name="Google Shape;132;p15"/>
          <p:cNvSpPr txBox="1"/>
          <p:nvPr/>
        </p:nvSpPr>
        <p:spPr>
          <a:xfrm>
            <a:off x="1162050" y="3119437"/>
            <a:ext cx="44244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Mappatura formale di </a:t>
            </a:r>
            <a:r>
              <a:rPr lang="en-US" sz="1200" b="0" i="0" u="none" strike="noStrike" cap="none">
                <a:solidFill>
                  <a:srgbClr val="F8FAFC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"stiva piena"</a:t>
            </a:r>
            <a:r>
              <a:rPr lang="en-US" sz="1200" b="0" i="0" u="none" strike="noStrike" cap="non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, </a:t>
            </a:r>
            <a:r>
              <a:rPr lang="en-US" sz="1200" b="0" i="0" u="none" strike="noStrike" cap="none">
                <a:solidFill>
                  <a:srgbClr val="F8FAFC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"fuori servizio"</a:t>
            </a:r>
            <a:r>
              <a:rPr lang="en-US" sz="1200" b="0" i="0" u="none" strike="noStrike" cap="non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e </a:t>
            </a:r>
            <a:r>
              <a:rPr lang="en-US" sz="1200" b="0" i="0" u="none" strike="noStrike" cap="none">
                <a:solidFill>
                  <a:srgbClr val="F8FAFC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"presenza container"</a:t>
            </a:r>
            <a:r>
              <a:rPr lang="en-US" sz="1200" b="0" i="0" u="none" strike="noStrike" cap="non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.</a:t>
            </a:r>
            <a:endParaRPr/>
          </a:p>
        </p:txBody>
      </p:sp>
      <p:sp>
        <p:nvSpPr>
          <p:cNvPr id="133" name="Google Shape;133;p15"/>
          <p:cNvSpPr txBox="1"/>
          <p:nvPr/>
        </p:nvSpPr>
        <p:spPr>
          <a:xfrm>
            <a:off x="1162050" y="3690937"/>
            <a:ext cx="44244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Definizione dei vincoli fisici e delle distanze critiche del sonar (soglia DFREE).</a:t>
            </a:r>
            <a:endParaRPr/>
          </a:p>
        </p:txBody>
      </p:sp>
      <p:sp>
        <p:nvSpPr>
          <p:cNvPr id="134" name="Google Shape;134;p15"/>
          <p:cNvSpPr txBox="1"/>
          <p:nvPr/>
        </p:nvSpPr>
        <p:spPr>
          <a:xfrm>
            <a:off x="1162050" y="4271962"/>
            <a:ext cx="44244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Garantita tracciabilità bidirezionale tra requisiti testuali ed eventi del sistema.</a:t>
            </a:r>
            <a:endParaRPr/>
          </a:p>
        </p:txBody>
      </p:sp>
      <p:pic>
        <p:nvPicPr>
          <p:cNvPr id="135" name="Google Shape;135;p15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6605587" y="2138362"/>
            <a:ext cx="285750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136" name="Google Shape;136;p15"/>
          <p:cNvSpPr txBox="1"/>
          <p:nvPr/>
        </p:nvSpPr>
        <p:spPr>
          <a:xfrm>
            <a:off x="6843712" y="2514600"/>
            <a:ext cx="44244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F8FAFC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ctx_cargoservice:</a:t>
            </a:r>
            <a:r>
              <a:rPr lang="en-US" sz="1200" b="0" i="0" u="none" strike="noStrike" cap="non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Contesto logico di controllo centrale (orchestratore, driver robot e proxy).</a:t>
            </a:r>
            <a:endParaRPr/>
          </a:p>
        </p:txBody>
      </p:sp>
      <p:sp>
        <p:nvSpPr>
          <p:cNvPr id="137" name="Google Shape;137;p15"/>
          <p:cNvSpPr txBox="1"/>
          <p:nvPr/>
        </p:nvSpPr>
        <p:spPr>
          <a:xfrm>
            <a:off x="6843712" y="3086100"/>
            <a:ext cx="44244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F8FAFC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ctxrobotsmart:</a:t>
            </a:r>
            <a:r>
              <a:rPr lang="en-US" sz="1200" b="0" i="0" u="none" strike="noStrike" cap="non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Contesto remoto per la gestione del movimento (pianificatore).</a:t>
            </a:r>
            <a:endParaRPr/>
          </a:p>
        </p:txBody>
      </p:sp>
      <p:pic>
        <p:nvPicPr>
          <p:cNvPr id="138" name="Google Shape;138;p15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6605587" y="3929062"/>
            <a:ext cx="228600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139" name="Google Shape;139;p15"/>
          <p:cNvSpPr txBox="1"/>
          <p:nvPr/>
        </p:nvSpPr>
        <p:spPr>
          <a:xfrm>
            <a:off x="6843712" y="4305300"/>
            <a:ext cx="44244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F8FAFC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IOPort WebGUI:</a:t>
            </a:r>
            <a:r>
              <a:rPr lang="en-US" sz="1200" b="0" i="0" u="none" strike="noStrike" cap="non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Interfaccia utente browser connessa via HTTP/CoAP al server web JVM.</a:t>
            </a:r>
            <a:endParaRPr/>
          </a:p>
        </p:txBody>
      </p:sp>
      <p:sp>
        <p:nvSpPr>
          <p:cNvPr id="140" name="Google Shape;140;p15"/>
          <p:cNvSpPr txBox="1"/>
          <p:nvPr/>
        </p:nvSpPr>
        <p:spPr>
          <a:xfrm>
            <a:off x="6843712" y="4876800"/>
            <a:ext cx="44244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F8FAFC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Pico W (Sonar-Led):</a:t>
            </a:r>
            <a:r>
              <a:rPr lang="en-US" sz="1200" b="0" i="0" u="none" strike="noStrike" cap="non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Nodo hardware IoT remoto connesso tramite broker MQTT.</a:t>
            </a:r>
            <a:endParaRPr/>
          </a:p>
        </p:txBody>
      </p:sp>
      <p:sp>
        <p:nvSpPr>
          <p:cNvPr id="141" name="Google Shape;141;p15"/>
          <p:cNvSpPr txBox="1"/>
          <p:nvPr/>
        </p:nvSpPr>
        <p:spPr>
          <a:xfrm>
            <a:off x="923925" y="3119437"/>
            <a:ext cx="152400" cy="1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0EA5E9"/>
                </a:solidFill>
                <a:latin typeface="Inter"/>
                <a:ea typeface="Inter"/>
                <a:cs typeface="Inter"/>
                <a:sym typeface="Inter"/>
              </a:rPr>
              <a:t>→</a:t>
            </a:r>
            <a:endParaRPr/>
          </a:p>
        </p:txBody>
      </p:sp>
      <p:sp>
        <p:nvSpPr>
          <p:cNvPr id="142" name="Google Shape;142;p15"/>
          <p:cNvSpPr txBox="1"/>
          <p:nvPr/>
        </p:nvSpPr>
        <p:spPr>
          <a:xfrm>
            <a:off x="923925" y="3690937"/>
            <a:ext cx="152400" cy="1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0EA5E9"/>
                </a:solidFill>
                <a:latin typeface="Inter"/>
                <a:ea typeface="Inter"/>
                <a:cs typeface="Inter"/>
                <a:sym typeface="Inter"/>
              </a:rPr>
              <a:t>→</a:t>
            </a:r>
            <a:endParaRPr/>
          </a:p>
        </p:txBody>
      </p:sp>
      <p:sp>
        <p:nvSpPr>
          <p:cNvPr id="143" name="Google Shape;143;p15"/>
          <p:cNvSpPr txBox="1"/>
          <p:nvPr/>
        </p:nvSpPr>
        <p:spPr>
          <a:xfrm>
            <a:off x="923925" y="4271962"/>
            <a:ext cx="152400" cy="1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0EA5E9"/>
                </a:solidFill>
                <a:latin typeface="Inter"/>
                <a:ea typeface="Inter"/>
                <a:cs typeface="Inter"/>
                <a:sym typeface="Inter"/>
              </a:rPr>
              <a:t>→</a:t>
            </a:r>
            <a:endParaRPr/>
          </a:p>
        </p:txBody>
      </p:sp>
      <p:sp>
        <p:nvSpPr>
          <p:cNvPr id="144" name="Google Shape;144;p15"/>
          <p:cNvSpPr txBox="1"/>
          <p:nvPr/>
        </p:nvSpPr>
        <p:spPr>
          <a:xfrm>
            <a:off x="6605587" y="2514600"/>
            <a:ext cx="152400" cy="1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0EA5E9"/>
                </a:solidFill>
                <a:latin typeface="Inter"/>
                <a:ea typeface="Inter"/>
                <a:cs typeface="Inter"/>
                <a:sym typeface="Inter"/>
              </a:rPr>
              <a:t>→</a:t>
            </a:r>
            <a:endParaRPr/>
          </a:p>
        </p:txBody>
      </p:sp>
      <p:sp>
        <p:nvSpPr>
          <p:cNvPr id="145" name="Google Shape;145;p15"/>
          <p:cNvSpPr txBox="1"/>
          <p:nvPr/>
        </p:nvSpPr>
        <p:spPr>
          <a:xfrm>
            <a:off x="6605587" y="3086100"/>
            <a:ext cx="152400" cy="1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0EA5E9"/>
                </a:solidFill>
                <a:latin typeface="Inter"/>
                <a:ea typeface="Inter"/>
                <a:cs typeface="Inter"/>
                <a:sym typeface="Inter"/>
              </a:rPr>
              <a:t>→</a:t>
            </a:r>
            <a:endParaRPr/>
          </a:p>
        </p:txBody>
      </p:sp>
      <p:sp>
        <p:nvSpPr>
          <p:cNvPr id="146" name="Google Shape;146;p15"/>
          <p:cNvSpPr txBox="1"/>
          <p:nvPr/>
        </p:nvSpPr>
        <p:spPr>
          <a:xfrm>
            <a:off x="6605587" y="4305300"/>
            <a:ext cx="152400" cy="1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0EA5E9"/>
                </a:solidFill>
                <a:latin typeface="Inter"/>
                <a:ea typeface="Inter"/>
                <a:cs typeface="Inter"/>
                <a:sym typeface="Inter"/>
              </a:rPr>
              <a:t>→</a:t>
            </a:r>
            <a:endParaRPr/>
          </a:p>
        </p:txBody>
      </p:sp>
      <p:sp>
        <p:nvSpPr>
          <p:cNvPr id="147" name="Google Shape;147;p15"/>
          <p:cNvSpPr txBox="1"/>
          <p:nvPr/>
        </p:nvSpPr>
        <p:spPr>
          <a:xfrm>
            <a:off x="6605587" y="4876800"/>
            <a:ext cx="152400" cy="1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0EA5E9"/>
                </a:solidFill>
                <a:latin typeface="Inter"/>
                <a:ea typeface="Inter"/>
                <a:cs typeface="Inter"/>
                <a:sym typeface="Inter"/>
              </a:rPr>
              <a:t>→</a:t>
            </a:r>
            <a:endParaRPr/>
          </a:p>
        </p:txBody>
      </p:sp>
      <p:sp>
        <p:nvSpPr>
          <p:cNvPr id="148" name="Google Shape;148;p15"/>
          <p:cNvSpPr txBox="1"/>
          <p:nvPr/>
        </p:nvSpPr>
        <p:spPr>
          <a:xfrm>
            <a:off x="581025" y="485775"/>
            <a:ext cx="11581500" cy="43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50" b="0" i="0" u="none" strike="noStrike" cap="none">
                <a:solidFill>
                  <a:srgbClr val="38BDF8"/>
                </a:solidFill>
                <a:latin typeface="Space Grotesk SemiBold"/>
                <a:ea typeface="Space Grotesk SemiBold"/>
                <a:cs typeface="Space Grotesk SemiBold"/>
                <a:sym typeface="Space Grotesk SemiBold"/>
              </a:rPr>
              <a:t>Dall'Analisi alla Modellazione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3" name="Google Shape;153;p16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525" y="9525"/>
            <a:ext cx="12172950" cy="6838951"/>
          </a:xfrm>
          <a:prstGeom prst="rect">
            <a:avLst/>
          </a:prstGeom>
          <a:noFill/>
          <a:ln>
            <a:noFill/>
          </a:ln>
        </p:spPr>
      </p:pic>
      <p:pic>
        <p:nvPicPr>
          <p:cNvPr id="154" name="Google Shape;154;p16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9324975" y="-466725"/>
            <a:ext cx="3333750" cy="33337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5" name="Google Shape;155;p16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81025" y="1181100"/>
            <a:ext cx="5348287" cy="5191124"/>
          </a:xfrm>
          <a:prstGeom prst="rect">
            <a:avLst/>
          </a:prstGeom>
          <a:noFill/>
          <a:ln>
            <a:noFill/>
          </a:ln>
        </p:spPr>
      </p:pic>
      <p:pic>
        <p:nvPicPr>
          <p:cNvPr id="156" name="Google Shape;156;p16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6262687" y="1181100"/>
            <a:ext cx="5348287" cy="5191124"/>
          </a:xfrm>
          <a:prstGeom prst="rect">
            <a:avLst/>
          </a:prstGeom>
          <a:noFill/>
          <a:ln>
            <a:noFill/>
          </a:ln>
        </p:spPr>
      </p:pic>
      <p:sp>
        <p:nvSpPr>
          <p:cNvPr id="157" name="Google Shape;157;p16"/>
          <p:cNvSpPr txBox="1"/>
          <p:nvPr/>
        </p:nvSpPr>
        <p:spPr>
          <a:xfrm>
            <a:off x="1266825" y="2828925"/>
            <a:ext cx="4535700" cy="2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38BDF8"/>
                </a:solidFill>
                <a:latin typeface="Space Grotesk SemiBold"/>
                <a:ea typeface="Space Grotesk SemiBold"/>
                <a:cs typeface="Space Grotesk SemiBold"/>
                <a:sym typeface="Space Grotesk SemiBold"/>
              </a:rPr>
              <a:t>Orchestratore (cargoservice)</a:t>
            </a:r>
            <a:endParaRPr/>
          </a:p>
        </p:txBody>
      </p:sp>
      <p:sp>
        <p:nvSpPr>
          <p:cNvPr id="158" name="Google Shape;158;p16"/>
          <p:cNvSpPr txBox="1"/>
          <p:nvPr/>
        </p:nvSpPr>
        <p:spPr>
          <a:xfrm>
            <a:off x="6948487" y="2705100"/>
            <a:ext cx="4535700" cy="2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38BDF8"/>
                </a:solidFill>
                <a:latin typeface="Space Grotesk SemiBold"/>
                <a:ea typeface="Space Grotesk SemiBold"/>
                <a:cs typeface="Space Grotesk SemiBold"/>
                <a:sym typeface="Space Grotesk SemiBold"/>
              </a:rPr>
              <a:t>Driver Robot (cargorobot)</a:t>
            </a:r>
            <a:endParaRPr/>
          </a:p>
        </p:txBody>
      </p:sp>
      <p:pic>
        <p:nvPicPr>
          <p:cNvPr id="159" name="Google Shape;159;p16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923925" y="2862262"/>
            <a:ext cx="228600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160" name="Google Shape;160;p16"/>
          <p:cNvSpPr txBox="1"/>
          <p:nvPr/>
        </p:nvSpPr>
        <p:spPr>
          <a:xfrm>
            <a:off x="1162050" y="3238500"/>
            <a:ext cx="44244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Possiede la conoscenza dello stato logico della stiva di carico.</a:t>
            </a:r>
            <a:endParaRPr/>
          </a:p>
        </p:txBody>
      </p:sp>
      <p:sp>
        <p:nvSpPr>
          <p:cNvPr id="161" name="Google Shape;161;p16"/>
          <p:cNvSpPr txBox="1"/>
          <p:nvPr/>
        </p:nvSpPr>
        <p:spPr>
          <a:xfrm>
            <a:off x="1162050" y="3810000"/>
            <a:ext cx="4424400" cy="1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Effettua la prenotazione logica degli slot disponibili (1-4).</a:t>
            </a:r>
            <a:endParaRPr/>
          </a:p>
        </p:txBody>
      </p:sp>
      <p:sp>
        <p:nvSpPr>
          <p:cNvPr id="162" name="Google Shape;162;p16"/>
          <p:cNvSpPr txBox="1"/>
          <p:nvPr/>
        </p:nvSpPr>
        <p:spPr>
          <a:xfrm>
            <a:off x="1162050" y="4152900"/>
            <a:ext cx="44244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Gestisce gli stati di alto livello indipendentemente dal motore fisico del robot.</a:t>
            </a:r>
            <a:endParaRPr/>
          </a:p>
        </p:txBody>
      </p:sp>
      <p:pic>
        <p:nvPicPr>
          <p:cNvPr id="163" name="Google Shape;163;p16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6605587" y="2738437"/>
            <a:ext cx="228600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164" name="Google Shape;164;p16"/>
          <p:cNvSpPr txBox="1"/>
          <p:nvPr/>
        </p:nvSpPr>
        <p:spPr>
          <a:xfrm>
            <a:off x="6843712" y="3114675"/>
            <a:ext cx="4424400" cy="1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Risolve il </a:t>
            </a:r>
            <a:r>
              <a:rPr lang="en-US" sz="1200" b="0" i="0" u="none" strike="noStrike" cap="none">
                <a:solidFill>
                  <a:srgbClr val="F8FAFC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gap astrattivo cartesiano</a:t>
            </a:r>
            <a:r>
              <a:rPr lang="en-US" sz="1200" b="0" i="0" u="none" strike="noStrike" cap="non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.</a:t>
            </a:r>
            <a:endParaRPr/>
          </a:p>
        </p:txBody>
      </p:sp>
      <p:sp>
        <p:nvSpPr>
          <p:cNvPr id="165" name="Google Shape;165;p16"/>
          <p:cNvSpPr txBox="1"/>
          <p:nvPr/>
        </p:nvSpPr>
        <p:spPr>
          <a:xfrm>
            <a:off x="6843712" y="3457575"/>
            <a:ext cx="44244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Traduce le mete semantiche (ioport, slot1, etc.) in coordinate geometriche (X,Y).</a:t>
            </a:r>
            <a:endParaRPr/>
          </a:p>
        </p:txBody>
      </p:sp>
      <p:sp>
        <p:nvSpPr>
          <p:cNvPr id="166" name="Google Shape;166;p16"/>
          <p:cNvSpPr txBox="1"/>
          <p:nvPr/>
        </p:nvSpPr>
        <p:spPr>
          <a:xfrm>
            <a:off x="6843712" y="4048125"/>
            <a:ext cx="44244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F8FAFC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Interazione asincrona strutturata</a:t>
            </a:r>
            <a:r>
              <a:rPr lang="en-US" sz="1200" b="0" i="0" u="none" strike="noStrike" cap="non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tramite messaggi Qak Request-Reply per attendere il completamento di ogni movimento.</a:t>
            </a:r>
            <a:endParaRPr/>
          </a:p>
        </p:txBody>
      </p:sp>
      <p:sp>
        <p:nvSpPr>
          <p:cNvPr id="167" name="Google Shape;167;p16"/>
          <p:cNvSpPr txBox="1"/>
          <p:nvPr/>
        </p:nvSpPr>
        <p:spPr>
          <a:xfrm>
            <a:off x="923925" y="3238500"/>
            <a:ext cx="152400" cy="1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0EA5E9"/>
                </a:solidFill>
                <a:latin typeface="Inter"/>
                <a:ea typeface="Inter"/>
                <a:cs typeface="Inter"/>
                <a:sym typeface="Inter"/>
              </a:rPr>
              <a:t>→</a:t>
            </a:r>
            <a:endParaRPr/>
          </a:p>
        </p:txBody>
      </p:sp>
      <p:sp>
        <p:nvSpPr>
          <p:cNvPr id="168" name="Google Shape;168;p16"/>
          <p:cNvSpPr txBox="1"/>
          <p:nvPr/>
        </p:nvSpPr>
        <p:spPr>
          <a:xfrm>
            <a:off x="923925" y="3810000"/>
            <a:ext cx="152400" cy="1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0EA5E9"/>
                </a:solidFill>
                <a:latin typeface="Inter"/>
                <a:ea typeface="Inter"/>
                <a:cs typeface="Inter"/>
                <a:sym typeface="Inter"/>
              </a:rPr>
              <a:t>→</a:t>
            </a:r>
            <a:endParaRPr/>
          </a:p>
        </p:txBody>
      </p:sp>
      <p:sp>
        <p:nvSpPr>
          <p:cNvPr id="169" name="Google Shape;169;p16"/>
          <p:cNvSpPr txBox="1"/>
          <p:nvPr/>
        </p:nvSpPr>
        <p:spPr>
          <a:xfrm>
            <a:off x="923925" y="4152900"/>
            <a:ext cx="152400" cy="1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0EA5E9"/>
                </a:solidFill>
                <a:latin typeface="Inter"/>
                <a:ea typeface="Inter"/>
                <a:cs typeface="Inter"/>
                <a:sym typeface="Inter"/>
              </a:rPr>
              <a:t>→</a:t>
            </a:r>
            <a:endParaRPr/>
          </a:p>
        </p:txBody>
      </p:sp>
      <p:sp>
        <p:nvSpPr>
          <p:cNvPr id="170" name="Google Shape;170;p16"/>
          <p:cNvSpPr txBox="1"/>
          <p:nvPr/>
        </p:nvSpPr>
        <p:spPr>
          <a:xfrm>
            <a:off x="6605587" y="3114675"/>
            <a:ext cx="152400" cy="1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0EA5E9"/>
                </a:solidFill>
                <a:latin typeface="Inter"/>
                <a:ea typeface="Inter"/>
                <a:cs typeface="Inter"/>
                <a:sym typeface="Inter"/>
              </a:rPr>
              <a:t>→</a:t>
            </a:r>
            <a:endParaRPr/>
          </a:p>
        </p:txBody>
      </p:sp>
      <p:sp>
        <p:nvSpPr>
          <p:cNvPr id="171" name="Google Shape;171;p16"/>
          <p:cNvSpPr txBox="1"/>
          <p:nvPr/>
        </p:nvSpPr>
        <p:spPr>
          <a:xfrm>
            <a:off x="6605587" y="3457575"/>
            <a:ext cx="152400" cy="1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0EA5E9"/>
                </a:solidFill>
                <a:latin typeface="Inter"/>
                <a:ea typeface="Inter"/>
                <a:cs typeface="Inter"/>
                <a:sym typeface="Inter"/>
              </a:rPr>
              <a:t>→</a:t>
            </a:r>
            <a:endParaRPr/>
          </a:p>
        </p:txBody>
      </p:sp>
      <p:sp>
        <p:nvSpPr>
          <p:cNvPr id="172" name="Google Shape;172;p16"/>
          <p:cNvSpPr txBox="1"/>
          <p:nvPr/>
        </p:nvSpPr>
        <p:spPr>
          <a:xfrm>
            <a:off x="6605587" y="4048125"/>
            <a:ext cx="152400" cy="1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0EA5E9"/>
                </a:solidFill>
                <a:latin typeface="Inter"/>
                <a:ea typeface="Inter"/>
                <a:cs typeface="Inter"/>
                <a:sym typeface="Inter"/>
              </a:rPr>
              <a:t>→</a:t>
            </a:r>
            <a:endParaRPr/>
          </a:p>
        </p:txBody>
      </p:sp>
      <p:sp>
        <p:nvSpPr>
          <p:cNvPr id="173" name="Google Shape;173;p16"/>
          <p:cNvSpPr txBox="1"/>
          <p:nvPr/>
        </p:nvSpPr>
        <p:spPr>
          <a:xfrm>
            <a:off x="581025" y="485775"/>
            <a:ext cx="11581500" cy="43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50" b="0" i="0" u="none" strike="noStrike" cap="none">
                <a:solidFill>
                  <a:srgbClr val="38BDF8"/>
                </a:solidFill>
                <a:latin typeface="Space Grotesk SemiBold"/>
                <a:ea typeface="Space Grotesk SemiBold"/>
                <a:cs typeface="Space Grotesk SemiBold"/>
                <a:sym typeface="Space Grotesk SemiBold"/>
              </a:rPr>
              <a:t>Architettura Logica del Controllo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8" name="Google Shape;178;p17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525" y="9525"/>
            <a:ext cx="12172950" cy="6838951"/>
          </a:xfrm>
          <a:prstGeom prst="rect">
            <a:avLst/>
          </a:prstGeom>
          <a:noFill/>
          <a:ln>
            <a:noFill/>
          </a:ln>
        </p:spPr>
      </p:pic>
      <p:pic>
        <p:nvPicPr>
          <p:cNvPr id="179" name="Google Shape;179;p17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-466725" y="4467225"/>
            <a:ext cx="3333750" cy="33337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80" name="Google Shape;180;p17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81025" y="1181100"/>
            <a:ext cx="5348287" cy="5191124"/>
          </a:xfrm>
          <a:prstGeom prst="rect">
            <a:avLst/>
          </a:prstGeom>
          <a:noFill/>
          <a:ln>
            <a:noFill/>
          </a:ln>
        </p:spPr>
      </p:pic>
      <p:pic>
        <p:nvPicPr>
          <p:cNvPr id="181" name="Google Shape;181;p17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6262687" y="1181100"/>
            <a:ext cx="5348287" cy="5191124"/>
          </a:xfrm>
          <a:prstGeom prst="rect">
            <a:avLst/>
          </a:prstGeom>
          <a:noFill/>
          <a:ln>
            <a:noFill/>
          </a:ln>
        </p:spPr>
      </p:pic>
      <p:sp>
        <p:nvSpPr>
          <p:cNvPr id="182" name="Google Shape;182;p17"/>
          <p:cNvSpPr txBox="1"/>
          <p:nvPr/>
        </p:nvSpPr>
        <p:spPr>
          <a:xfrm>
            <a:off x="1266825" y="2595562"/>
            <a:ext cx="4535700" cy="2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38BDF8"/>
                </a:solidFill>
                <a:latin typeface="Space Grotesk SemiBold"/>
                <a:ea typeface="Space Grotesk SemiBold"/>
                <a:cs typeface="Space Grotesk SemiBold"/>
                <a:sym typeface="Space Grotesk SemiBold"/>
              </a:rPr>
              <a:t>Host JVM &amp; Docker Core</a:t>
            </a:r>
            <a:endParaRPr/>
          </a:p>
        </p:txBody>
      </p:sp>
      <p:sp>
        <p:nvSpPr>
          <p:cNvPr id="183" name="Google Shape;183;p17"/>
          <p:cNvSpPr txBox="1"/>
          <p:nvPr/>
        </p:nvSpPr>
        <p:spPr>
          <a:xfrm>
            <a:off x="6977062" y="2709862"/>
            <a:ext cx="4505700" cy="2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38BDF8"/>
                </a:solidFill>
                <a:latin typeface="Space Grotesk SemiBold"/>
                <a:ea typeface="Space Grotesk SemiBold"/>
                <a:cs typeface="Space Grotesk SemiBold"/>
                <a:sym typeface="Space Grotesk SemiBold"/>
              </a:rPr>
              <a:t>MQTT Adapter Bridge</a:t>
            </a:r>
            <a:endParaRPr/>
          </a:p>
        </p:txBody>
      </p:sp>
      <p:pic>
        <p:nvPicPr>
          <p:cNvPr id="184" name="Google Shape;184;p17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923925" y="2628900"/>
            <a:ext cx="228600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185" name="Google Shape;185;p17"/>
          <p:cNvSpPr txBox="1"/>
          <p:nvPr/>
        </p:nvSpPr>
        <p:spPr>
          <a:xfrm>
            <a:off x="1162050" y="3005137"/>
            <a:ext cx="44244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F8FAFC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Java Virtual Machine:</a:t>
            </a:r>
            <a:r>
              <a:rPr lang="en-US" sz="1200" b="0" i="0" u="none" strike="noStrike" cap="non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Esegue il backend Qak e l'IOPort Web Server (porta 8081).</a:t>
            </a:r>
            <a:endParaRPr/>
          </a:p>
        </p:txBody>
      </p:sp>
      <p:sp>
        <p:nvSpPr>
          <p:cNvPr id="186" name="Google Shape;186;p17"/>
          <p:cNvSpPr txBox="1"/>
          <p:nvPr/>
        </p:nvSpPr>
        <p:spPr>
          <a:xfrm>
            <a:off x="1162050" y="3586162"/>
            <a:ext cx="44244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F8FAFC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HTTP Polling &amp; CoAP GET:</a:t>
            </a:r>
            <a:r>
              <a:rPr lang="en-US" sz="1200" b="0" i="0" u="none" strike="noStrike" cap="non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Il browser interroga periodicamente il Web Server, che recupera in sincrono lo stato dell'orchestratore via CoAP.</a:t>
            </a:r>
            <a:endParaRPr/>
          </a:p>
        </p:txBody>
      </p:sp>
      <p:sp>
        <p:nvSpPr>
          <p:cNvPr id="187" name="Google Shape;187;p17"/>
          <p:cNvSpPr txBox="1"/>
          <p:nvPr/>
        </p:nvSpPr>
        <p:spPr>
          <a:xfrm>
            <a:off x="1162050" y="4386262"/>
            <a:ext cx="44244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F8FAFC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Docker Engine:</a:t>
            </a:r>
            <a:r>
              <a:rPr lang="en-US" sz="1200" b="0" i="0" u="none" strike="noStrike" cap="non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Isola il broker MQTT (Mosquitto) e il simulatore grafico 3D (WEnv).</a:t>
            </a:r>
            <a:endParaRPr/>
          </a:p>
        </p:txBody>
      </p:sp>
      <p:pic>
        <p:nvPicPr>
          <p:cNvPr id="188" name="Google Shape;188;p17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6605587" y="2743200"/>
            <a:ext cx="257175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189" name="Google Shape;189;p17"/>
          <p:cNvSpPr txBox="1"/>
          <p:nvPr/>
        </p:nvSpPr>
        <p:spPr>
          <a:xfrm>
            <a:off x="6843712" y="3119437"/>
            <a:ext cx="44244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Disaccoppia l'orchestratore Qak dai protocolli di basso livello.</a:t>
            </a:r>
            <a:endParaRPr/>
          </a:p>
        </p:txBody>
      </p:sp>
      <p:sp>
        <p:nvSpPr>
          <p:cNvPr id="190" name="Google Shape;190;p17"/>
          <p:cNvSpPr txBox="1"/>
          <p:nvPr/>
        </p:nvSpPr>
        <p:spPr>
          <a:xfrm>
            <a:off x="6843712" y="3690937"/>
            <a:ext cx="44244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Converte i payload MQTT provenienti dal sonar in dispatches Qak distance(D).</a:t>
            </a:r>
            <a:endParaRPr/>
          </a:p>
        </p:txBody>
      </p:sp>
      <p:sp>
        <p:nvSpPr>
          <p:cNvPr id="191" name="Google Shape;191;p17"/>
          <p:cNvSpPr txBox="1"/>
          <p:nvPr/>
        </p:nvSpPr>
        <p:spPr>
          <a:xfrm>
            <a:off x="6843712" y="4271962"/>
            <a:ext cx="44244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Invia comandi MQTT per il controllo dinamico dello stato del LED.</a:t>
            </a:r>
            <a:endParaRPr/>
          </a:p>
        </p:txBody>
      </p:sp>
      <p:sp>
        <p:nvSpPr>
          <p:cNvPr id="192" name="Google Shape;192;p17"/>
          <p:cNvSpPr txBox="1"/>
          <p:nvPr/>
        </p:nvSpPr>
        <p:spPr>
          <a:xfrm>
            <a:off x="923925" y="3005137"/>
            <a:ext cx="152400" cy="1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0EA5E9"/>
                </a:solidFill>
                <a:latin typeface="Inter"/>
                <a:ea typeface="Inter"/>
                <a:cs typeface="Inter"/>
                <a:sym typeface="Inter"/>
              </a:rPr>
              <a:t>→</a:t>
            </a:r>
            <a:endParaRPr/>
          </a:p>
        </p:txBody>
      </p:sp>
      <p:sp>
        <p:nvSpPr>
          <p:cNvPr id="193" name="Google Shape;193;p17"/>
          <p:cNvSpPr txBox="1"/>
          <p:nvPr/>
        </p:nvSpPr>
        <p:spPr>
          <a:xfrm>
            <a:off x="923925" y="3586162"/>
            <a:ext cx="152400" cy="1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0EA5E9"/>
                </a:solidFill>
                <a:latin typeface="Inter"/>
                <a:ea typeface="Inter"/>
                <a:cs typeface="Inter"/>
                <a:sym typeface="Inter"/>
              </a:rPr>
              <a:t>→</a:t>
            </a:r>
            <a:endParaRPr/>
          </a:p>
        </p:txBody>
      </p:sp>
      <p:sp>
        <p:nvSpPr>
          <p:cNvPr id="194" name="Google Shape;194;p17"/>
          <p:cNvSpPr txBox="1"/>
          <p:nvPr/>
        </p:nvSpPr>
        <p:spPr>
          <a:xfrm>
            <a:off x="923925" y="4386262"/>
            <a:ext cx="152400" cy="1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0EA5E9"/>
                </a:solidFill>
                <a:latin typeface="Inter"/>
                <a:ea typeface="Inter"/>
                <a:cs typeface="Inter"/>
                <a:sym typeface="Inter"/>
              </a:rPr>
              <a:t>→</a:t>
            </a:r>
            <a:endParaRPr/>
          </a:p>
        </p:txBody>
      </p:sp>
      <p:sp>
        <p:nvSpPr>
          <p:cNvPr id="195" name="Google Shape;195;p17"/>
          <p:cNvSpPr txBox="1"/>
          <p:nvPr/>
        </p:nvSpPr>
        <p:spPr>
          <a:xfrm>
            <a:off x="6605587" y="3119437"/>
            <a:ext cx="152400" cy="1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0EA5E9"/>
                </a:solidFill>
                <a:latin typeface="Inter"/>
                <a:ea typeface="Inter"/>
                <a:cs typeface="Inter"/>
                <a:sym typeface="Inter"/>
              </a:rPr>
              <a:t>→</a:t>
            </a:r>
            <a:endParaRPr/>
          </a:p>
        </p:txBody>
      </p:sp>
      <p:sp>
        <p:nvSpPr>
          <p:cNvPr id="196" name="Google Shape;196;p17"/>
          <p:cNvSpPr txBox="1"/>
          <p:nvPr/>
        </p:nvSpPr>
        <p:spPr>
          <a:xfrm>
            <a:off x="6605587" y="3690937"/>
            <a:ext cx="152400" cy="1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0EA5E9"/>
                </a:solidFill>
                <a:latin typeface="Inter"/>
                <a:ea typeface="Inter"/>
                <a:cs typeface="Inter"/>
                <a:sym typeface="Inter"/>
              </a:rPr>
              <a:t>→</a:t>
            </a:r>
            <a:endParaRPr/>
          </a:p>
        </p:txBody>
      </p:sp>
      <p:sp>
        <p:nvSpPr>
          <p:cNvPr id="197" name="Google Shape;197;p17"/>
          <p:cNvSpPr txBox="1"/>
          <p:nvPr/>
        </p:nvSpPr>
        <p:spPr>
          <a:xfrm>
            <a:off x="6605587" y="4271962"/>
            <a:ext cx="152400" cy="1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0EA5E9"/>
                </a:solidFill>
                <a:latin typeface="Inter"/>
                <a:ea typeface="Inter"/>
                <a:cs typeface="Inter"/>
                <a:sym typeface="Inter"/>
              </a:rPr>
              <a:t>→</a:t>
            </a:r>
            <a:endParaRPr/>
          </a:p>
        </p:txBody>
      </p:sp>
      <p:sp>
        <p:nvSpPr>
          <p:cNvPr id="198" name="Google Shape;198;p17"/>
          <p:cNvSpPr txBox="1"/>
          <p:nvPr/>
        </p:nvSpPr>
        <p:spPr>
          <a:xfrm>
            <a:off x="581025" y="485775"/>
            <a:ext cx="11581500" cy="43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50" b="0" i="0" u="none" strike="noStrike" cap="none">
                <a:solidFill>
                  <a:srgbClr val="38BDF8"/>
                </a:solidFill>
                <a:latin typeface="Space Grotesk SemiBold"/>
                <a:ea typeface="Space Grotesk SemiBold"/>
                <a:cs typeface="Space Grotesk SemiBold"/>
                <a:sym typeface="Space Grotesk SemiBold"/>
              </a:rPr>
              <a:t>Architettura Fisica Distribuita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3" name="Google Shape;203;p18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525" y="9525"/>
            <a:ext cx="12172950" cy="6838951"/>
          </a:xfrm>
          <a:prstGeom prst="rect">
            <a:avLst/>
          </a:prstGeom>
          <a:noFill/>
          <a:ln>
            <a:noFill/>
          </a:ln>
        </p:spPr>
      </p:pic>
      <p:pic>
        <p:nvPicPr>
          <p:cNvPr id="204" name="Google Shape;204;p18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9324975" y="-466725"/>
            <a:ext cx="3333750" cy="33337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05" name="Google Shape;205;p18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839450" y="480500"/>
            <a:ext cx="6160499" cy="428625"/>
          </a:xfrm>
          <a:prstGeom prst="rect">
            <a:avLst/>
          </a:prstGeom>
          <a:noFill/>
          <a:ln>
            <a:noFill/>
          </a:ln>
        </p:spPr>
      </p:pic>
      <p:sp>
        <p:nvSpPr>
          <p:cNvPr id="206" name="Google Shape;206;p18"/>
          <p:cNvSpPr txBox="1"/>
          <p:nvPr/>
        </p:nvSpPr>
        <p:spPr>
          <a:xfrm>
            <a:off x="581025" y="485775"/>
            <a:ext cx="11581447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50" b="0" i="0" u="none" strike="noStrike" cap="none">
                <a:solidFill>
                  <a:srgbClr val="38BDF8"/>
                </a:solidFill>
                <a:latin typeface="Space Grotesk SemiBold"/>
                <a:ea typeface="Space Grotesk SemiBold"/>
                <a:cs typeface="Space Grotesk SemiBold"/>
                <a:sym typeface="Space Grotesk SemiBold"/>
              </a:rPr>
              <a:t>Integrazione Hardware Fisico</a:t>
            </a:r>
            <a:endParaRPr/>
          </a:p>
        </p:txBody>
      </p:sp>
      <p:sp>
        <p:nvSpPr>
          <p:cNvPr id="207" name="Google Shape;207;p18"/>
          <p:cNvSpPr txBox="1"/>
          <p:nvPr/>
        </p:nvSpPr>
        <p:spPr>
          <a:xfrm>
            <a:off x="5839450" y="909125"/>
            <a:ext cx="6160500" cy="5611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800" b="1">
                <a:solidFill>
                  <a:srgbClr val="C586C0"/>
                </a:solidFill>
                <a:highlight>
                  <a:srgbClr val="121314"/>
                </a:highlight>
                <a:latin typeface="Courier New"/>
                <a:ea typeface="Courier New"/>
                <a:cs typeface="Courier New"/>
                <a:sym typeface="Courier New"/>
              </a:rPr>
              <a:t>import</a:t>
            </a:r>
            <a:r>
              <a:rPr lang="en-US" sz="800" b="1">
                <a:solidFill>
                  <a:srgbClr val="BBBEBF"/>
                </a:solidFill>
                <a:highlight>
                  <a:srgbClr val="121314"/>
                </a:highlight>
                <a:latin typeface="Courier New"/>
                <a:ea typeface="Courier New"/>
                <a:cs typeface="Courier New"/>
                <a:sym typeface="Courier New"/>
              </a:rPr>
              <a:t> uasyncio </a:t>
            </a:r>
            <a:r>
              <a:rPr lang="en-US" sz="800" b="1">
                <a:solidFill>
                  <a:srgbClr val="C586C0"/>
                </a:solidFill>
                <a:highlight>
                  <a:srgbClr val="121314"/>
                </a:highlight>
                <a:latin typeface="Courier New"/>
                <a:ea typeface="Courier New"/>
                <a:cs typeface="Courier New"/>
                <a:sym typeface="Courier New"/>
              </a:rPr>
              <a:t>as</a:t>
            </a:r>
            <a:r>
              <a:rPr lang="en-US" sz="800" b="1">
                <a:solidFill>
                  <a:srgbClr val="BBBEBF"/>
                </a:solidFill>
                <a:highlight>
                  <a:srgbClr val="121314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-US" sz="800" b="1">
                <a:solidFill>
                  <a:srgbClr val="4EC9B0"/>
                </a:solidFill>
                <a:highlight>
                  <a:srgbClr val="121314"/>
                </a:highlight>
                <a:latin typeface="Courier New"/>
                <a:ea typeface="Courier New"/>
                <a:cs typeface="Courier New"/>
                <a:sym typeface="Courier New"/>
              </a:rPr>
              <a:t>asyncio</a:t>
            </a:r>
            <a:endParaRPr sz="800" b="1">
              <a:solidFill>
                <a:srgbClr val="00FFFF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800" b="1">
                <a:solidFill>
                  <a:srgbClr val="C586C0"/>
                </a:solidFill>
                <a:highlight>
                  <a:srgbClr val="121314"/>
                </a:highlight>
                <a:latin typeface="Courier New"/>
                <a:ea typeface="Courier New"/>
                <a:cs typeface="Courier New"/>
                <a:sym typeface="Courier New"/>
              </a:rPr>
              <a:t>from</a:t>
            </a:r>
            <a:r>
              <a:rPr lang="en-US" sz="800" b="1">
                <a:solidFill>
                  <a:srgbClr val="BBBEBF"/>
                </a:solidFill>
                <a:highlight>
                  <a:srgbClr val="121314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-US" sz="800" b="1">
                <a:solidFill>
                  <a:srgbClr val="4EC9B0"/>
                </a:solidFill>
                <a:highlight>
                  <a:srgbClr val="121314"/>
                </a:highlight>
                <a:latin typeface="Courier New"/>
                <a:ea typeface="Courier New"/>
                <a:cs typeface="Courier New"/>
                <a:sym typeface="Courier New"/>
              </a:rPr>
              <a:t>umqtt_simple</a:t>
            </a:r>
            <a:r>
              <a:rPr lang="en-US" sz="800" b="1">
                <a:solidFill>
                  <a:srgbClr val="BBBEBF"/>
                </a:solidFill>
                <a:highlight>
                  <a:srgbClr val="121314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-US" sz="800" b="1">
                <a:solidFill>
                  <a:srgbClr val="C586C0"/>
                </a:solidFill>
                <a:highlight>
                  <a:srgbClr val="121314"/>
                </a:highlight>
                <a:latin typeface="Courier New"/>
                <a:ea typeface="Courier New"/>
                <a:cs typeface="Courier New"/>
                <a:sym typeface="Courier New"/>
              </a:rPr>
              <a:t>import</a:t>
            </a:r>
            <a:r>
              <a:rPr lang="en-US" sz="800" b="1">
                <a:solidFill>
                  <a:srgbClr val="BBBEBF"/>
                </a:solidFill>
                <a:highlight>
                  <a:srgbClr val="121314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-US" sz="800" b="1">
                <a:solidFill>
                  <a:srgbClr val="4EC9B0"/>
                </a:solidFill>
                <a:highlight>
                  <a:srgbClr val="121314"/>
                </a:highlight>
                <a:latin typeface="Courier New"/>
                <a:ea typeface="Courier New"/>
                <a:cs typeface="Courier New"/>
                <a:sym typeface="Courier New"/>
              </a:rPr>
              <a:t>MQTTClient</a:t>
            </a:r>
            <a:endParaRPr sz="800" b="1">
              <a:solidFill>
                <a:srgbClr val="4EC9B0"/>
              </a:solidFill>
              <a:highlight>
                <a:srgbClr val="121314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800" b="1">
              <a:solidFill>
                <a:srgbClr val="94A3B8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800" b="1">
                <a:solidFill>
                  <a:srgbClr val="FF7B72"/>
                </a:solidFill>
                <a:highlight>
                  <a:srgbClr val="121314"/>
                </a:highlight>
                <a:latin typeface="Courier New"/>
                <a:ea typeface="Courier New"/>
                <a:cs typeface="Courier New"/>
                <a:sym typeface="Courier New"/>
              </a:rPr>
              <a:t>async</a:t>
            </a:r>
            <a:r>
              <a:rPr lang="en-US" sz="800" b="1">
                <a:solidFill>
                  <a:srgbClr val="BBBEBF"/>
                </a:solidFill>
                <a:highlight>
                  <a:srgbClr val="121314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-US" sz="800" b="1">
                <a:solidFill>
                  <a:srgbClr val="FF7B72"/>
                </a:solidFill>
                <a:highlight>
                  <a:srgbClr val="121314"/>
                </a:highlight>
                <a:latin typeface="Courier New"/>
                <a:ea typeface="Courier New"/>
                <a:cs typeface="Courier New"/>
                <a:sym typeface="Courier New"/>
              </a:rPr>
              <a:t>def</a:t>
            </a:r>
            <a:r>
              <a:rPr lang="en-US" sz="800" b="1">
                <a:solidFill>
                  <a:srgbClr val="BBBEBF"/>
                </a:solidFill>
                <a:highlight>
                  <a:srgbClr val="121314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-US" sz="800" b="1">
                <a:solidFill>
                  <a:srgbClr val="D2A8FF"/>
                </a:solidFill>
                <a:highlight>
                  <a:srgbClr val="121314"/>
                </a:highlight>
                <a:latin typeface="Courier New"/>
                <a:ea typeface="Courier New"/>
                <a:cs typeface="Courier New"/>
                <a:sym typeface="Courier New"/>
              </a:rPr>
              <a:t>sonar_mqtt_loop</a:t>
            </a:r>
            <a:r>
              <a:rPr lang="en-US" sz="800" b="1">
                <a:solidFill>
                  <a:srgbClr val="BBBEBF"/>
                </a:solidFill>
                <a:highlight>
                  <a:srgbClr val="121314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-US" sz="800" b="1">
                <a:solidFill>
                  <a:srgbClr val="FFA657"/>
                </a:solidFill>
                <a:highlight>
                  <a:srgbClr val="121314"/>
                </a:highlight>
                <a:latin typeface="Courier New"/>
                <a:ea typeface="Courier New"/>
                <a:cs typeface="Courier New"/>
                <a:sym typeface="Courier New"/>
              </a:rPr>
              <a:t>client</a:t>
            </a:r>
            <a:r>
              <a:rPr lang="en-US" sz="800" b="1">
                <a:solidFill>
                  <a:srgbClr val="BBBEBF"/>
                </a:solidFill>
                <a:highlight>
                  <a:srgbClr val="121314"/>
                </a:highlight>
                <a:latin typeface="Courier New"/>
                <a:ea typeface="Courier New"/>
                <a:cs typeface="Courier New"/>
                <a:sym typeface="Courier New"/>
              </a:rPr>
              <a:t>):</a:t>
            </a:r>
            <a:endParaRPr sz="800" b="1">
              <a:solidFill>
                <a:srgbClr val="BBBEBF"/>
              </a:solidFill>
              <a:highlight>
                <a:srgbClr val="121314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800" b="1">
                <a:solidFill>
                  <a:srgbClr val="BBBEBF"/>
                </a:solidFill>
                <a:highlight>
                  <a:srgbClr val="121314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en-US" sz="800" b="1">
                <a:solidFill>
                  <a:srgbClr val="C586C0"/>
                </a:solidFill>
                <a:highlight>
                  <a:srgbClr val="121314"/>
                </a:highlight>
                <a:latin typeface="Courier New"/>
                <a:ea typeface="Courier New"/>
                <a:cs typeface="Courier New"/>
                <a:sym typeface="Courier New"/>
              </a:rPr>
              <a:t>while</a:t>
            </a:r>
            <a:r>
              <a:rPr lang="en-US" sz="800" b="1">
                <a:solidFill>
                  <a:srgbClr val="BBBEBF"/>
                </a:solidFill>
                <a:highlight>
                  <a:srgbClr val="121314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-US" sz="800" b="1">
                <a:solidFill>
                  <a:srgbClr val="569CD6"/>
                </a:solidFill>
                <a:highlight>
                  <a:srgbClr val="121314"/>
                </a:highlight>
                <a:latin typeface="Courier New"/>
                <a:ea typeface="Courier New"/>
                <a:cs typeface="Courier New"/>
                <a:sym typeface="Courier New"/>
              </a:rPr>
              <a:t>True</a:t>
            </a:r>
            <a:r>
              <a:rPr lang="en-US" sz="800" b="1">
                <a:solidFill>
                  <a:srgbClr val="BBBEBF"/>
                </a:solidFill>
                <a:highlight>
                  <a:srgbClr val="121314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endParaRPr sz="800" b="1">
              <a:solidFill>
                <a:srgbClr val="BBBEBF"/>
              </a:solidFill>
              <a:highlight>
                <a:srgbClr val="121314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800" b="1">
                <a:solidFill>
                  <a:srgbClr val="BBBEBF"/>
                </a:solidFill>
                <a:highlight>
                  <a:srgbClr val="121314"/>
                </a:highlight>
                <a:latin typeface="Courier New"/>
                <a:ea typeface="Courier New"/>
                <a:cs typeface="Courier New"/>
                <a:sym typeface="Courier New"/>
              </a:rPr>
              <a:t>        </a:t>
            </a:r>
            <a:r>
              <a:rPr lang="en-US" sz="800" b="1">
                <a:solidFill>
                  <a:srgbClr val="C586C0"/>
                </a:solidFill>
                <a:highlight>
                  <a:srgbClr val="121314"/>
                </a:highlight>
                <a:latin typeface="Courier New"/>
                <a:ea typeface="Courier New"/>
                <a:cs typeface="Courier New"/>
                <a:sym typeface="Courier New"/>
              </a:rPr>
              <a:t>try</a:t>
            </a:r>
            <a:r>
              <a:rPr lang="en-US" sz="800" b="1">
                <a:solidFill>
                  <a:srgbClr val="BBBEBF"/>
                </a:solidFill>
                <a:highlight>
                  <a:srgbClr val="121314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endParaRPr sz="800" b="1">
              <a:solidFill>
                <a:srgbClr val="BBBEBF"/>
              </a:solidFill>
              <a:highlight>
                <a:srgbClr val="121314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800" b="1">
                <a:solidFill>
                  <a:srgbClr val="BBBEBF"/>
                </a:solidFill>
                <a:highlight>
                  <a:srgbClr val="121314"/>
                </a:highlight>
                <a:latin typeface="Courier New"/>
                <a:ea typeface="Courier New"/>
                <a:cs typeface="Courier New"/>
                <a:sym typeface="Courier New"/>
              </a:rPr>
              <a:t>            </a:t>
            </a:r>
            <a:r>
              <a:rPr lang="en-US" sz="800" b="1">
                <a:solidFill>
                  <a:srgbClr val="C9D1D9"/>
                </a:solidFill>
                <a:highlight>
                  <a:srgbClr val="121314"/>
                </a:highlight>
                <a:latin typeface="Courier New"/>
                <a:ea typeface="Courier New"/>
                <a:cs typeface="Courier New"/>
                <a:sym typeface="Courier New"/>
              </a:rPr>
              <a:t>d</a:t>
            </a:r>
            <a:r>
              <a:rPr lang="en-US" sz="800" b="1">
                <a:solidFill>
                  <a:srgbClr val="BBBEBF"/>
                </a:solidFill>
                <a:highlight>
                  <a:srgbClr val="121314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-US" sz="800" b="1">
                <a:solidFill>
                  <a:srgbClr val="D4D4D4"/>
                </a:solidFill>
                <a:highlight>
                  <a:srgbClr val="121314"/>
                </a:highlight>
                <a:latin typeface="Courier New"/>
                <a:ea typeface="Courier New"/>
                <a:cs typeface="Courier New"/>
                <a:sym typeface="Courier New"/>
              </a:rPr>
              <a:t>=</a:t>
            </a:r>
            <a:r>
              <a:rPr lang="en-US" sz="800" b="1">
                <a:solidFill>
                  <a:srgbClr val="BBBEBF"/>
                </a:solidFill>
                <a:highlight>
                  <a:srgbClr val="121314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-US" sz="800" b="1">
                <a:solidFill>
                  <a:srgbClr val="D2A8FF"/>
                </a:solidFill>
                <a:highlight>
                  <a:srgbClr val="121314"/>
                </a:highlight>
                <a:latin typeface="Courier New"/>
                <a:ea typeface="Courier New"/>
                <a:cs typeface="Courier New"/>
                <a:sym typeface="Courier New"/>
              </a:rPr>
              <a:t>read_sonar</a:t>
            </a:r>
            <a:r>
              <a:rPr lang="en-US" sz="800" b="1">
                <a:solidFill>
                  <a:srgbClr val="BBBEBF"/>
                </a:solidFill>
                <a:highlight>
                  <a:srgbClr val="121314"/>
                </a:highlight>
                <a:latin typeface="Courier New"/>
                <a:ea typeface="Courier New"/>
                <a:cs typeface="Courier New"/>
                <a:sym typeface="Courier New"/>
              </a:rPr>
              <a:t>()</a:t>
            </a:r>
            <a:endParaRPr sz="800" b="1">
              <a:solidFill>
                <a:srgbClr val="BBBEBF"/>
              </a:solidFill>
              <a:highlight>
                <a:srgbClr val="121314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800" b="1">
                <a:solidFill>
                  <a:srgbClr val="BBBEBF"/>
                </a:solidFill>
                <a:highlight>
                  <a:srgbClr val="121314"/>
                </a:highlight>
                <a:latin typeface="Courier New"/>
                <a:ea typeface="Courier New"/>
                <a:cs typeface="Courier New"/>
                <a:sym typeface="Courier New"/>
              </a:rPr>
              <a:t>            </a:t>
            </a:r>
            <a:r>
              <a:rPr lang="en-US" sz="800" b="1">
                <a:solidFill>
                  <a:srgbClr val="FFA657"/>
                </a:solidFill>
                <a:highlight>
                  <a:srgbClr val="121314"/>
                </a:highlight>
                <a:latin typeface="Courier New"/>
                <a:ea typeface="Courier New"/>
                <a:cs typeface="Courier New"/>
                <a:sym typeface="Courier New"/>
              </a:rPr>
              <a:t>client</a:t>
            </a:r>
            <a:r>
              <a:rPr lang="en-US" sz="800" b="1">
                <a:solidFill>
                  <a:srgbClr val="BBBEBF"/>
                </a:solidFill>
                <a:highlight>
                  <a:srgbClr val="121314"/>
                </a:highlight>
                <a:latin typeface="Courier New"/>
                <a:ea typeface="Courier New"/>
                <a:cs typeface="Courier New"/>
                <a:sym typeface="Courier New"/>
              </a:rPr>
              <a:t>.publish(</a:t>
            </a:r>
            <a:r>
              <a:rPr lang="en-US" sz="800" b="1">
                <a:solidFill>
                  <a:srgbClr val="A5D6FF"/>
                </a:solidFill>
                <a:highlight>
                  <a:srgbClr val="121314"/>
                </a:highlight>
                <a:latin typeface="Courier New"/>
                <a:ea typeface="Courier New"/>
                <a:cs typeface="Courier New"/>
                <a:sym typeface="Courier New"/>
              </a:rPr>
              <a:t>"cargoservice/pico/sonar"</a:t>
            </a:r>
            <a:r>
              <a:rPr lang="en-US" sz="800" b="1">
                <a:solidFill>
                  <a:srgbClr val="BBBEBF"/>
                </a:solidFill>
                <a:highlight>
                  <a:srgbClr val="121314"/>
                </a:highlight>
                <a:latin typeface="Courier New"/>
                <a:ea typeface="Courier New"/>
                <a:cs typeface="Courier New"/>
                <a:sym typeface="Courier New"/>
              </a:rPr>
              <a:t>, </a:t>
            </a:r>
            <a:r>
              <a:rPr lang="en-US" sz="800" b="1">
                <a:solidFill>
                  <a:srgbClr val="4EC9B0"/>
                </a:solidFill>
                <a:highlight>
                  <a:srgbClr val="121314"/>
                </a:highlight>
                <a:latin typeface="Courier New"/>
                <a:ea typeface="Courier New"/>
                <a:cs typeface="Courier New"/>
                <a:sym typeface="Courier New"/>
              </a:rPr>
              <a:t>str</a:t>
            </a:r>
            <a:r>
              <a:rPr lang="en-US" sz="800" b="1">
                <a:solidFill>
                  <a:srgbClr val="BBBEBF"/>
                </a:solidFill>
                <a:highlight>
                  <a:srgbClr val="121314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-US" sz="800" b="1">
                <a:solidFill>
                  <a:srgbClr val="C9D1D9"/>
                </a:solidFill>
                <a:highlight>
                  <a:srgbClr val="121314"/>
                </a:highlight>
                <a:latin typeface="Courier New"/>
                <a:ea typeface="Courier New"/>
                <a:cs typeface="Courier New"/>
                <a:sym typeface="Courier New"/>
              </a:rPr>
              <a:t>d</a:t>
            </a:r>
            <a:r>
              <a:rPr lang="en-US" sz="800" b="1">
                <a:solidFill>
                  <a:srgbClr val="BBBEBF"/>
                </a:solidFill>
                <a:highlight>
                  <a:srgbClr val="121314"/>
                </a:highlight>
                <a:latin typeface="Courier New"/>
                <a:ea typeface="Courier New"/>
                <a:cs typeface="Courier New"/>
                <a:sym typeface="Courier New"/>
              </a:rPr>
              <a:t>))</a:t>
            </a:r>
            <a:endParaRPr sz="800" b="1">
              <a:solidFill>
                <a:srgbClr val="BBBEBF"/>
              </a:solidFill>
              <a:highlight>
                <a:srgbClr val="121314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800" b="1">
                <a:solidFill>
                  <a:srgbClr val="BBBEBF"/>
                </a:solidFill>
                <a:highlight>
                  <a:srgbClr val="121314"/>
                </a:highlight>
                <a:latin typeface="Courier New"/>
                <a:ea typeface="Courier New"/>
                <a:cs typeface="Courier New"/>
                <a:sym typeface="Courier New"/>
              </a:rPr>
              <a:t>            </a:t>
            </a:r>
            <a:r>
              <a:rPr lang="en-US" sz="800" b="1">
                <a:solidFill>
                  <a:srgbClr val="D2A8FF"/>
                </a:solidFill>
                <a:highlight>
                  <a:srgbClr val="121314"/>
                </a:highlight>
                <a:latin typeface="Courier New"/>
                <a:ea typeface="Courier New"/>
                <a:cs typeface="Courier New"/>
                <a:sym typeface="Courier New"/>
              </a:rPr>
              <a:t>print</a:t>
            </a:r>
            <a:r>
              <a:rPr lang="en-US" sz="800" b="1">
                <a:solidFill>
                  <a:srgbClr val="BBBEBF"/>
                </a:solidFill>
                <a:highlight>
                  <a:srgbClr val="121314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-US" sz="800" b="1">
                <a:solidFill>
                  <a:srgbClr val="A5D6FF"/>
                </a:solidFill>
                <a:highlight>
                  <a:srgbClr val="121314"/>
                </a:highlight>
                <a:latin typeface="Courier New"/>
                <a:ea typeface="Courier New"/>
                <a:cs typeface="Courier New"/>
                <a:sym typeface="Courier New"/>
              </a:rPr>
              <a:t>"MQTT | Published distance:"</a:t>
            </a:r>
            <a:r>
              <a:rPr lang="en-US" sz="800" b="1">
                <a:solidFill>
                  <a:srgbClr val="BBBEBF"/>
                </a:solidFill>
                <a:highlight>
                  <a:srgbClr val="121314"/>
                </a:highlight>
                <a:latin typeface="Courier New"/>
                <a:ea typeface="Courier New"/>
                <a:cs typeface="Courier New"/>
                <a:sym typeface="Courier New"/>
              </a:rPr>
              <a:t>, </a:t>
            </a:r>
            <a:r>
              <a:rPr lang="en-US" sz="800" b="1">
                <a:solidFill>
                  <a:srgbClr val="C9D1D9"/>
                </a:solidFill>
                <a:highlight>
                  <a:srgbClr val="121314"/>
                </a:highlight>
                <a:latin typeface="Courier New"/>
                <a:ea typeface="Courier New"/>
                <a:cs typeface="Courier New"/>
                <a:sym typeface="Courier New"/>
              </a:rPr>
              <a:t>d</a:t>
            </a:r>
            <a:r>
              <a:rPr lang="en-US" sz="800" b="1">
                <a:solidFill>
                  <a:srgbClr val="BBBEBF"/>
                </a:solidFill>
                <a:highlight>
                  <a:srgbClr val="121314"/>
                </a:highlight>
                <a:latin typeface="Courier New"/>
                <a:ea typeface="Courier New"/>
                <a:cs typeface="Courier New"/>
                <a:sym typeface="Courier New"/>
              </a:rPr>
              <a:t>, </a:t>
            </a:r>
            <a:r>
              <a:rPr lang="en-US" sz="800" b="1">
                <a:solidFill>
                  <a:srgbClr val="A5D6FF"/>
                </a:solidFill>
                <a:highlight>
                  <a:srgbClr val="121314"/>
                </a:highlight>
                <a:latin typeface="Courier New"/>
                <a:ea typeface="Courier New"/>
                <a:cs typeface="Courier New"/>
                <a:sym typeface="Courier New"/>
              </a:rPr>
              <a:t>"cm"</a:t>
            </a:r>
            <a:r>
              <a:rPr lang="en-US" sz="800" b="1">
                <a:solidFill>
                  <a:srgbClr val="BBBEBF"/>
                </a:solidFill>
                <a:highlight>
                  <a:srgbClr val="121314"/>
                </a:highlight>
                <a:latin typeface="Courier New"/>
                <a:ea typeface="Courier New"/>
                <a:cs typeface="Courier New"/>
                <a:sym typeface="Courier New"/>
              </a:rPr>
              <a:t>)</a:t>
            </a:r>
            <a:endParaRPr sz="800" b="1">
              <a:solidFill>
                <a:srgbClr val="BBBEBF"/>
              </a:solidFill>
              <a:highlight>
                <a:srgbClr val="121314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800" b="1">
                <a:solidFill>
                  <a:srgbClr val="BBBEBF"/>
                </a:solidFill>
                <a:highlight>
                  <a:srgbClr val="121314"/>
                </a:highlight>
                <a:latin typeface="Courier New"/>
                <a:ea typeface="Courier New"/>
                <a:cs typeface="Courier New"/>
                <a:sym typeface="Courier New"/>
              </a:rPr>
              <a:t>        </a:t>
            </a:r>
            <a:r>
              <a:rPr lang="en-US" sz="800" b="1">
                <a:solidFill>
                  <a:srgbClr val="C586C0"/>
                </a:solidFill>
                <a:highlight>
                  <a:srgbClr val="121314"/>
                </a:highlight>
                <a:latin typeface="Courier New"/>
                <a:ea typeface="Courier New"/>
                <a:cs typeface="Courier New"/>
                <a:sym typeface="Courier New"/>
              </a:rPr>
              <a:t>except</a:t>
            </a:r>
            <a:r>
              <a:rPr lang="en-US" sz="800" b="1">
                <a:solidFill>
                  <a:srgbClr val="BBBEBF"/>
                </a:solidFill>
                <a:highlight>
                  <a:srgbClr val="121314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-US" sz="800" b="1">
                <a:solidFill>
                  <a:srgbClr val="4EC9B0"/>
                </a:solidFill>
                <a:highlight>
                  <a:srgbClr val="121314"/>
                </a:highlight>
                <a:latin typeface="Courier New"/>
                <a:ea typeface="Courier New"/>
                <a:cs typeface="Courier New"/>
                <a:sym typeface="Courier New"/>
              </a:rPr>
              <a:t>Exception</a:t>
            </a:r>
            <a:r>
              <a:rPr lang="en-US" sz="800" b="1">
                <a:solidFill>
                  <a:srgbClr val="BBBEBF"/>
                </a:solidFill>
                <a:highlight>
                  <a:srgbClr val="121314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-US" sz="800" b="1">
                <a:solidFill>
                  <a:srgbClr val="C586C0"/>
                </a:solidFill>
                <a:highlight>
                  <a:srgbClr val="121314"/>
                </a:highlight>
                <a:latin typeface="Courier New"/>
                <a:ea typeface="Courier New"/>
                <a:cs typeface="Courier New"/>
                <a:sym typeface="Courier New"/>
              </a:rPr>
              <a:t>as</a:t>
            </a:r>
            <a:r>
              <a:rPr lang="en-US" sz="800" b="1">
                <a:solidFill>
                  <a:srgbClr val="BBBEBF"/>
                </a:solidFill>
                <a:highlight>
                  <a:srgbClr val="121314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-US" sz="800" b="1">
                <a:solidFill>
                  <a:srgbClr val="C9D1D9"/>
                </a:solidFill>
                <a:highlight>
                  <a:srgbClr val="121314"/>
                </a:highlight>
                <a:latin typeface="Courier New"/>
                <a:ea typeface="Courier New"/>
                <a:cs typeface="Courier New"/>
                <a:sym typeface="Courier New"/>
              </a:rPr>
              <a:t>e</a:t>
            </a:r>
            <a:r>
              <a:rPr lang="en-US" sz="800" b="1">
                <a:solidFill>
                  <a:srgbClr val="BBBEBF"/>
                </a:solidFill>
                <a:highlight>
                  <a:srgbClr val="121314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endParaRPr sz="800" b="1">
              <a:solidFill>
                <a:srgbClr val="BBBEBF"/>
              </a:solidFill>
              <a:highlight>
                <a:srgbClr val="121314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800" b="1">
                <a:solidFill>
                  <a:srgbClr val="BBBEBF"/>
                </a:solidFill>
                <a:highlight>
                  <a:srgbClr val="121314"/>
                </a:highlight>
                <a:latin typeface="Courier New"/>
                <a:ea typeface="Courier New"/>
                <a:cs typeface="Courier New"/>
                <a:sym typeface="Courier New"/>
              </a:rPr>
              <a:t>            </a:t>
            </a:r>
            <a:r>
              <a:rPr lang="en-US" sz="800" b="1">
                <a:solidFill>
                  <a:srgbClr val="D2A8FF"/>
                </a:solidFill>
                <a:highlight>
                  <a:srgbClr val="121314"/>
                </a:highlight>
                <a:latin typeface="Courier New"/>
                <a:ea typeface="Courier New"/>
                <a:cs typeface="Courier New"/>
                <a:sym typeface="Courier New"/>
              </a:rPr>
              <a:t>print</a:t>
            </a:r>
            <a:r>
              <a:rPr lang="en-US" sz="800" b="1">
                <a:solidFill>
                  <a:srgbClr val="BBBEBF"/>
                </a:solidFill>
                <a:highlight>
                  <a:srgbClr val="121314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-US" sz="800" b="1">
                <a:solidFill>
                  <a:srgbClr val="A5D6FF"/>
                </a:solidFill>
                <a:highlight>
                  <a:srgbClr val="121314"/>
                </a:highlight>
                <a:latin typeface="Courier New"/>
                <a:ea typeface="Courier New"/>
                <a:cs typeface="Courier New"/>
                <a:sym typeface="Courier New"/>
              </a:rPr>
              <a:t>"Sonar Loop | Error:"</a:t>
            </a:r>
            <a:r>
              <a:rPr lang="en-US" sz="800" b="1">
                <a:solidFill>
                  <a:srgbClr val="BBBEBF"/>
                </a:solidFill>
                <a:highlight>
                  <a:srgbClr val="121314"/>
                </a:highlight>
                <a:latin typeface="Courier New"/>
                <a:ea typeface="Courier New"/>
                <a:cs typeface="Courier New"/>
                <a:sym typeface="Courier New"/>
              </a:rPr>
              <a:t>, </a:t>
            </a:r>
            <a:r>
              <a:rPr lang="en-US" sz="800" b="1">
                <a:solidFill>
                  <a:srgbClr val="C9D1D9"/>
                </a:solidFill>
                <a:highlight>
                  <a:srgbClr val="121314"/>
                </a:highlight>
                <a:latin typeface="Courier New"/>
                <a:ea typeface="Courier New"/>
                <a:cs typeface="Courier New"/>
                <a:sym typeface="Courier New"/>
              </a:rPr>
              <a:t>e</a:t>
            </a:r>
            <a:r>
              <a:rPr lang="en-US" sz="800" b="1">
                <a:solidFill>
                  <a:srgbClr val="BBBEBF"/>
                </a:solidFill>
                <a:highlight>
                  <a:srgbClr val="121314"/>
                </a:highlight>
                <a:latin typeface="Courier New"/>
                <a:ea typeface="Courier New"/>
                <a:cs typeface="Courier New"/>
                <a:sym typeface="Courier New"/>
              </a:rPr>
              <a:t>)</a:t>
            </a:r>
            <a:endParaRPr sz="800" b="1">
              <a:solidFill>
                <a:srgbClr val="BBBEBF"/>
              </a:solidFill>
              <a:highlight>
                <a:srgbClr val="121314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800" b="1">
                <a:solidFill>
                  <a:srgbClr val="BBBEBF"/>
                </a:solidFill>
                <a:highlight>
                  <a:srgbClr val="121314"/>
                </a:highlight>
                <a:latin typeface="Courier New"/>
                <a:ea typeface="Courier New"/>
                <a:cs typeface="Courier New"/>
                <a:sym typeface="Courier New"/>
              </a:rPr>
              <a:t>        </a:t>
            </a:r>
            <a:r>
              <a:rPr lang="en-US" sz="800" b="1">
                <a:solidFill>
                  <a:srgbClr val="C586C0"/>
                </a:solidFill>
                <a:highlight>
                  <a:srgbClr val="121314"/>
                </a:highlight>
                <a:latin typeface="Courier New"/>
                <a:ea typeface="Courier New"/>
                <a:cs typeface="Courier New"/>
                <a:sym typeface="Courier New"/>
              </a:rPr>
              <a:t>await</a:t>
            </a:r>
            <a:r>
              <a:rPr lang="en-US" sz="800" b="1">
                <a:solidFill>
                  <a:srgbClr val="BBBEBF"/>
                </a:solidFill>
                <a:highlight>
                  <a:srgbClr val="121314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-US" sz="800" b="1">
                <a:solidFill>
                  <a:srgbClr val="4EC9B0"/>
                </a:solidFill>
                <a:highlight>
                  <a:srgbClr val="121314"/>
                </a:highlight>
                <a:latin typeface="Courier New"/>
                <a:ea typeface="Courier New"/>
                <a:cs typeface="Courier New"/>
                <a:sym typeface="Courier New"/>
              </a:rPr>
              <a:t>asyncio</a:t>
            </a:r>
            <a:r>
              <a:rPr lang="en-US" sz="800" b="1">
                <a:solidFill>
                  <a:srgbClr val="BBBEBF"/>
                </a:solidFill>
                <a:highlight>
                  <a:srgbClr val="121314"/>
                </a:highlight>
                <a:latin typeface="Courier New"/>
                <a:ea typeface="Courier New"/>
                <a:cs typeface="Courier New"/>
                <a:sym typeface="Courier New"/>
              </a:rPr>
              <a:t>.sleep(</a:t>
            </a:r>
            <a:r>
              <a:rPr lang="en-US" sz="800" b="1">
                <a:solidFill>
                  <a:srgbClr val="B5CEA8"/>
                </a:solidFill>
                <a:highlight>
                  <a:srgbClr val="121314"/>
                </a:highlight>
                <a:latin typeface="Courier New"/>
                <a:ea typeface="Courier New"/>
                <a:cs typeface="Courier New"/>
                <a:sym typeface="Courier New"/>
              </a:rPr>
              <a:t>0.25</a:t>
            </a:r>
            <a:r>
              <a:rPr lang="en-US" sz="800" b="1">
                <a:solidFill>
                  <a:srgbClr val="BBBEBF"/>
                </a:solidFill>
                <a:highlight>
                  <a:srgbClr val="121314"/>
                </a:highlight>
                <a:latin typeface="Courier New"/>
                <a:ea typeface="Courier New"/>
                <a:cs typeface="Courier New"/>
                <a:sym typeface="Courier New"/>
              </a:rPr>
              <a:t>) </a:t>
            </a:r>
            <a:r>
              <a:rPr lang="en-US" sz="800" b="1">
                <a:solidFill>
                  <a:schemeClr val="lt1"/>
                </a:solidFill>
                <a:latin typeface="Courier New"/>
                <a:ea typeface="Courier New"/>
                <a:cs typeface="Courier New"/>
                <a:sym typeface="Courier New"/>
              </a:rPr>
              <a:t> </a:t>
            </a:r>
            <a:endParaRPr sz="800" b="1">
              <a:solidFill>
                <a:schemeClr val="lt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800" b="1">
              <a:solidFill>
                <a:schemeClr val="lt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800" b="1">
                <a:solidFill>
                  <a:srgbClr val="FF7B72"/>
                </a:solidFill>
                <a:highlight>
                  <a:srgbClr val="121314"/>
                </a:highlight>
                <a:latin typeface="Courier New"/>
                <a:ea typeface="Courier New"/>
                <a:cs typeface="Courier New"/>
                <a:sym typeface="Courier New"/>
              </a:rPr>
              <a:t>async</a:t>
            </a:r>
            <a:r>
              <a:rPr lang="en-US" sz="800" b="1">
                <a:solidFill>
                  <a:srgbClr val="BBBEBF"/>
                </a:solidFill>
                <a:highlight>
                  <a:srgbClr val="121314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-US" sz="800" b="1">
                <a:solidFill>
                  <a:srgbClr val="FF7B72"/>
                </a:solidFill>
                <a:highlight>
                  <a:srgbClr val="121314"/>
                </a:highlight>
                <a:latin typeface="Courier New"/>
                <a:ea typeface="Courier New"/>
                <a:cs typeface="Courier New"/>
                <a:sym typeface="Courier New"/>
              </a:rPr>
              <a:t>def</a:t>
            </a:r>
            <a:r>
              <a:rPr lang="en-US" sz="800" b="1">
                <a:solidFill>
                  <a:srgbClr val="BBBEBF"/>
                </a:solidFill>
                <a:highlight>
                  <a:srgbClr val="121314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-US" sz="800" b="1">
                <a:solidFill>
                  <a:srgbClr val="D2A8FF"/>
                </a:solidFill>
                <a:highlight>
                  <a:srgbClr val="121314"/>
                </a:highlight>
                <a:latin typeface="Courier New"/>
                <a:ea typeface="Courier New"/>
                <a:cs typeface="Courier New"/>
                <a:sym typeface="Courier New"/>
              </a:rPr>
              <a:t>main</a:t>
            </a:r>
            <a:r>
              <a:rPr lang="en-US" sz="800" b="1">
                <a:solidFill>
                  <a:srgbClr val="BBBEBF"/>
                </a:solidFill>
                <a:highlight>
                  <a:srgbClr val="121314"/>
                </a:highlight>
                <a:latin typeface="Courier New"/>
                <a:ea typeface="Courier New"/>
                <a:cs typeface="Courier New"/>
                <a:sym typeface="Courier New"/>
              </a:rPr>
              <a:t>():</a:t>
            </a:r>
            <a:endParaRPr sz="800" b="1">
              <a:solidFill>
                <a:srgbClr val="BBBEBF"/>
              </a:solidFill>
              <a:highlight>
                <a:srgbClr val="121314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800" b="1">
                <a:solidFill>
                  <a:srgbClr val="BBBEBF"/>
                </a:solidFill>
                <a:highlight>
                  <a:srgbClr val="121314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en-US" sz="800" b="1">
                <a:solidFill>
                  <a:srgbClr val="D2A8FF"/>
                </a:solidFill>
                <a:highlight>
                  <a:srgbClr val="121314"/>
                </a:highlight>
                <a:latin typeface="Courier New"/>
                <a:ea typeface="Courier New"/>
                <a:cs typeface="Courier New"/>
                <a:sym typeface="Courier New"/>
              </a:rPr>
              <a:t>connect_wifi</a:t>
            </a:r>
            <a:r>
              <a:rPr lang="en-US" sz="800" b="1">
                <a:solidFill>
                  <a:srgbClr val="BBBEBF"/>
                </a:solidFill>
                <a:highlight>
                  <a:srgbClr val="121314"/>
                </a:highlight>
                <a:latin typeface="Courier New"/>
                <a:ea typeface="Courier New"/>
                <a:cs typeface="Courier New"/>
                <a:sym typeface="Courier New"/>
              </a:rPr>
              <a:t>()</a:t>
            </a:r>
            <a:endParaRPr sz="800" b="1">
              <a:solidFill>
                <a:srgbClr val="BBBEBF"/>
              </a:solidFill>
              <a:highlight>
                <a:srgbClr val="121314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800" b="1">
                <a:solidFill>
                  <a:srgbClr val="BBBEBF"/>
                </a:solidFill>
                <a:highlight>
                  <a:srgbClr val="121314"/>
                </a:highlight>
                <a:latin typeface="Courier New"/>
                <a:ea typeface="Courier New"/>
                <a:cs typeface="Courier New"/>
                <a:sym typeface="Courier New"/>
              </a:rPr>
              <a:t>   </a:t>
            </a:r>
            <a:endParaRPr sz="800" b="1">
              <a:solidFill>
                <a:srgbClr val="BBBEBF"/>
              </a:solidFill>
              <a:highlight>
                <a:srgbClr val="121314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>
                <a:solidFill>
                  <a:srgbClr val="BBBEBF"/>
                </a:solidFill>
                <a:highlight>
                  <a:srgbClr val="121314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en-US" sz="800" b="1">
                <a:solidFill>
                  <a:srgbClr val="8B949E"/>
                </a:solidFill>
                <a:highlight>
                  <a:srgbClr val="121314"/>
                </a:highlight>
                <a:latin typeface="Courier New"/>
                <a:ea typeface="Courier New"/>
                <a:cs typeface="Courier New"/>
                <a:sym typeface="Courier New"/>
              </a:rPr>
              <a:t># Setup MQTT Client</a:t>
            </a:r>
            <a:endParaRPr sz="800" b="1">
              <a:solidFill>
                <a:srgbClr val="8B949E"/>
              </a:solidFill>
              <a:highlight>
                <a:srgbClr val="121314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800" b="1">
                <a:solidFill>
                  <a:srgbClr val="BBBEBF"/>
                </a:solidFill>
                <a:highlight>
                  <a:srgbClr val="121314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en-US" sz="800" b="1">
                <a:solidFill>
                  <a:srgbClr val="C9D1D9"/>
                </a:solidFill>
                <a:highlight>
                  <a:srgbClr val="121314"/>
                </a:highlight>
                <a:latin typeface="Courier New"/>
                <a:ea typeface="Courier New"/>
                <a:cs typeface="Courier New"/>
                <a:sym typeface="Courier New"/>
              </a:rPr>
              <a:t>client</a:t>
            </a:r>
            <a:r>
              <a:rPr lang="en-US" sz="800" b="1">
                <a:solidFill>
                  <a:srgbClr val="BBBEBF"/>
                </a:solidFill>
                <a:highlight>
                  <a:srgbClr val="121314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-US" sz="800" b="1">
                <a:solidFill>
                  <a:srgbClr val="D4D4D4"/>
                </a:solidFill>
                <a:highlight>
                  <a:srgbClr val="121314"/>
                </a:highlight>
                <a:latin typeface="Courier New"/>
                <a:ea typeface="Courier New"/>
                <a:cs typeface="Courier New"/>
                <a:sym typeface="Courier New"/>
              </a:rPr>
              <a:t>=</a:t>
            </a:r>
            <a:r>
              <a:rPr lang="en-US" sz="800" b="1">
                <a:solidFill>
                  <a:srgbClr val="BBBEBF"/>
                </a:solidFill>
                <a:highlight>
                  <a:srgbClr val="121314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-US" sz="800" b="1">
                <a:solidFill>
                  <a:srgbClr val="4EC9B0"/>
                </a:solidFill>
                <a:highlight>
                  <a:srgbClr val="121314"/>
                </a:highlight>
                <a:latin typeface="Courier New"/>
                <a:ea typeface="Courier New"/>
                <a:cs typeface="Courier New"/>
                <a:sym typeface="Courier New"/>
              </a:rPr>
              <a:t>MQTTClient</a:t>
            </a:r>
            <a:r>
              <a:rPr lang="en-US" sz="800" b="1">
                <a:solidFill>
                  <a:srgbClr val="BBBEBF"/>
                </a:solidFill>
                <a:highlight>
                  <a:srgbClr val="121314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-US" sz="800" b="1">
                <a:solidFill>
                  <a:srgbClr val="A5D6FF"/>
                </a:solidFill>
                <a:highlight>
                  <a:srgbClr val="121314"/>
                </a:highlight>
                <a:latin typeface="Courier New"/>
                <a:ea typeface="Courier New"/>
                <a:cs typeface="Courier New"/>
                <a:sym typeface="Courier New"/>
              </a:rPr>
              <a:t>"pico_client"</a:t>
            </a:r>
            <a:r>
              <a:rPr lang="en-US" sz="800" b="1">
                <a:solidFill>
                  <a:srgbClr val="BBBEBF"/>
                </a:solidFill>
                <a:highlight>
                  <a:srgbClr val="121314"/>
                </a:highlight>
                <a:latin typeface="Courier New"/>
                <a:ea typeface="Courier New"/>
                <a:cs typeface="Courier New"/>
                <a:sym typeface="Courier New"/>
              </a:rPr>
              <a:t>, </a:t>
            </a:r>
            <a:r>
              <a:rPr lang="en-US" sz="800" b="1">
                <a:solidFill>
                  <a:srgbClr val="79C0FF"/>
                </a:solidFill>
                <a:highlight>
                  <a:srgbClr val="121314"/>
                </a:highlight>
                <a:latin typeface="Courier New"/>
                <a:ea typeface="Courier New"/>
                <a:cs typeface="Courier New"/>
                <a:sym typeface="Courier New"/>
              </a:rPr>
              <a:t>MQTT_BROKER</a:t>
            </a:r>
            <a:r>
              <a:rPr lang="en-US" sz="800" b="1">
                <a:solidFill>
                  <a:srgbClr val="BBBEBF"/>
                </a:solidFill>
                <a:highlight>
                  <a:srgbClr val="121314"/>
                </a:highlight>
                <a:latin typeface="Courier New"/>
                <a:ea typeface="Courier New"/>
                <a:cs typeface="Courier New"/>
                <a:sym typeface="Courier New"/>
              </a:rPr>
              <a:t>)</a:t>
            </a:r>
            <a:endParaRPr sz="800" b="1">
              <a:solidFill>
                <a:srgbClr val="BBBEBF"/>
              </a:solidFill>
              <a:highlight>
                <a:srgbClr val="121314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800" b="1">
                <a:solidFill>
                  <a:srgbClr val="BBBEBF"/>
                </a:solidFill>
                <a:highlight>
                  <a:srgbClr val="121314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en-US" sz="800" b="1">
                <a:solidFill>
                  <a:srgbClr val="C9D1D9"/>
                </a:solidFill>
                <a:highlight>
                  <a:srgbClr val="121314"/>
                </a:highlight>
                <a:latin typeface="Courier New"/>
                <a:ea typeface="Courier New"/>
                <a:cs typeface="Courier New"/>
                <a:sym typeface="Courier New"/>
              </a:rPr>
              <a:t>client</a:t>
            </a:r>
            <a:r>
              <a:rPr lang="en-US" sz="800" b="1">
                <a:solidFill>
                  <a:srgbClr val="BBBEBF"/>
                </a:solidFill>
                <a:highlight>
                  <a:srgbClr val="121314"/>
                </a:highlight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lang="en-US" sz="800" b="1">
                <a:solidFill>
                  <a:srgbClr val="D2A8FF"/>
                </a:solidFill>
                <a:highlight>
                  <a:srgbClr val="121314"/>
                </a:highlight>
                <a:latin typeface="Courier New"/>
                <a:ea typeface="Courier New"/>
                <a:cs typeface="Courier New"/>
                <a:sym typeface="Courier New"/>
              </a:rPr>
              <a:t>set_callback</a:t>
            </a:r>
            <a:r>
              <a:rPr lang="en-US" sz="800" b="1">
                <a:solidFill>
                  <a:srgbClr val="BBBEBF"/>
                </a:solidFill>
                <a:highlight>
                  <a:srgbClr val="121314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-US" sz="800" b="1">
                <a:solidFill>
                  <a:srgbClr val="D2A8FF"/>
                </a:solidFill>
                <a:highlight>
                  <a:srgbClr val="121314"/>
                </a:highlight>
                <a:latin typeface="Courier New"/>
                <a:ea typeface="Courier New"/>
                <a:cs typeface="Courier New"/>
                <a:sym typeface="Courier New"/>
              </a:rPr>
              <a:t>mqtt_callback</a:t>
            </a:r>
            <a:r>
              <a:rPr lang="en-US" sz="800" b="1">
                <a:solidFill>
                  <a:srgbClr val="BBBEBF"/>
                </a:solidFill>
                <a:highlight>
                  <a:srgbClr val="121314"/>
                </a:highlight>
                <a:latin typeface="Courier New"/>
                <a:ea typeface="Courier New"/>
                <a:cs typeface="Courier New"/>
                <a:sym typeface="Courier New"/>
              </a:rPr>
              <a:t>)</a:t>
            </a:r>
            <a:endParaRPr sz="800" b="1">
              <a:solidFill>
                <a:srgbClr val="BBBEBF"/>
              </a:solidFill>
              <a:highlight>
                <a:srgbClr val="121314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800" b="1">
                <a:solidFill>
                  <a:srgbClr val="BBBEBF"/>
                </a:solidFill>
                <a:highlight>
                  <a:srgbClr val="121314"/>
                </a:highlight>
                <a:latin typeface="Courier New"/>
                <a:ea typeface="Courier New"/>
                <a:cs typeface="Courier New"/>
                <a:sym typeface="Courier New"/>
              </a:rPr>
              <a:t>   </a:t>
            </a:r>
            <a:endParaRPr sz="800" b="1">
              <a:solidFill>
                <a:srgbClr val="BBBEBF"/>
              </a:solidFill>
              <a:highlight>
                <a:srgbClr val="121314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800" b="1">
                <a:solidFill>
                  <a:srgbClr val="BBBEBF"/>
                </a:solidFill>
                <a:highlight>
                  <a:srgbClr val="121314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en-US" sz="800" b="1">
                <a:solidFill>
                  <a:srgbClr val="C586C0"/>
                </a:solidFill>
                <a:highlight>
                  <a:srgbClr val="121314"/>
                </a:highlight>
                <a:latin typeface="Courier New"/>
                <a:ea typeface="Courier New"/>
                <a:cs typeface="Courier New"/>
                <a:sym typeface="Courier New"/>
              </a:rPr>
              <a:t>try</a:t>
            </a:r>
            <a:r>
              <a:rPr lang="en-US" sz="800" b="1">
                <a:solidFill>
                  <a:srgbClr val="BBBEBF"/>
                </a:solidFill>
                <a:highlight>
                  <a:srgbClr val="121314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endParaRPr sz="800" b="1">
              <a:solidFill>
                <a:srgbClr val="BBBEBF"/>
              </a:solidFill>
              <a:highlight>
                <a:srgbClr val="121314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800" b="1">
                <a:solidFill>
                  <a:srgbClr val="BBBEBF"/>
                </a:solidFill>
                <a:highlight>
                  <a:srgbClr val="121314"/>
                </a:highlight>
                <a:latin typeface="Courier New"/>
                <a:ea typeface="Courier New"/>
                <a:cs typeface="Courier New"/>
                <a:sym typeface="Courier New"/>
              </a:rPr>
              <a:t>        </a:t>
            </a:r>
            <a:r>
              <a:rPr lang="en-US" sz="800" b="1">
                <a:solidFill>
                  <a:srgbClr val="C9D1D9"/>
                </a:solidFill>
                <a:highlight>
                  <a:srgbClr val="121314"/>
                </a:highlight>
                <a:latin typeface="Courier New"/>
                <a:ea typeface="Courier New"/>
                <a:cs typeface="Courier New"/>
                <a:sym typeface="Courier New"/>
              </a:rPr>
              <a:t>client</a:t>
            </a:r>
            <a:r>
              <a:rPr lang="en-US" sz="800" b="1">
                <a:solidFill>
                  <a:srgbClr val="BBBEBF"/>
                </a:solidFill>
                <a:highlight>
                  <a:srgbClr val="121314"/>
                </a:highlight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lang="en-US" sz="800" b="1">
                <a:solidFill>
                  <a:srgbClr val="D2A8FF"/>
                </a:solidFill>
                <a:highlight>
                  <a:srgbClr val="121314"/>
                </a:highlight>
                <a:latin typeface="Courier New"/>
                <a:ea typeface="Courier New"/>
                <a:cs typeface="Courier New"/>
                <a:sym typeface="Courier New"/>
              </a:rPr>
              <a:t>connect</a:t>
            </a:r>
            <a:r>
              <a:rPr lang="en-US" sz="800" b="1">
                <a:solidFill>
                  <a:srgbClr val="BBBEBF"/>
                </a:solidFill>
                <a:highlight>
                  <a:srgbClr val="121314"/>
                </a:highlight>
                <a:latin typeface="Courier New"/>
                <a:ea typeface="Courier New"/>
                <a:cs typeface="Courier New"/>
                <a:sym typeface="Courier New"/>
              </a:rPr>
              <a:t>()</a:t>
            </a:r>
            <a:endParaRPr sz="800" b="1">
              <a:solidFill>
                <a:srgbClr val="BBBEBF"/>
              </a:solidFill>
              <a:highlight>
                <a:srgbClr val="121314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800" b="1">
                <a:solidFill>
                  <a:srgbClr val="BBBEBF"/>
                </a:solidFill>
                <a:highlight>
                  <a:srgbClr val="121314"/>
                </a:highlight>
                <a:latin typeface="Courier New"/>
                <a:ea typeface="Courier New"/>
                <a:cs typeface="Courier New"/>
                <a:sym typeface="Courier New"/>
              </a:rPr>
              <a:t>        </a:t>
            </a:r>
            <a:r>
              <a:rPr lang="en-US" sz="800" b="1">
                <a:solidFill>
                  <a:srgbClr val="C9D1D9"/>
                </a:solidFill>
                <a:highlight>
                  <a:srgbClr val="121314"/>
                </a:highlight>
                <a:latin typeface="Courier New"/>
                <a:ea typeface="Courier New"/>
                <a:cs typeface="Courier New"/>
                <a:sym typeface="Courier New"/>
              </a:rPr>
              <a:t>client</a:t>
            </a:r>
            <a:r>
              <a:rPr lang="en-US" sz="800" b="1">
                <a:solidFill>
                  <a:srgbClr val="BBBEBF"/>
                </a:solidFill>
                <a:highlight>
                  <a:srgbClr val="121314"/>
                </a:highlight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lang="en-US" sz="800" b="1">
                <a:solidFill>
                  <a:srgbClr val="D2A8FF"/>
                </a:solidFill>
                <a:highlight>
                  <a:srgbClr val="121314"/>
                </a:highlight>
                <a:latin typeface="Courier New"/>
                <a:ea typeface="Courier New"/>
                <a:cs typeface="Courier New"/>
                <a:sym typeface="Courier New"/>
              </a:rPr>
              <a:t>subscribe</a:t>
            </a:r>
            <a:r>
              <a:rPr lang="en-US" sz="800" b="1">
                <a:solidFill>
                  <a:srgbClr val="BBBEBF"/>
                </a:solidFill>
                <a:highlight>
                  <a:srgbClr val="121314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-US" sz="800" b="1">
                <a:solidFill>
                  <a:srgbClr val="A5D6FF"/>
                </a:solidFill>
                <a:highlight>
                  <a:srgbClr val="121314"/>
                </a:highlight>
                <a:latin typeface="Courier New"/>
                <a:ea typeface="Courier New"/>
                <a:cs typeface="Courier New"/>
                <a:sym typeface="Courier New"/>
              </a:rPr>
              <a:t>"cargoservice/pico/led"</a:t>
            </a:r>
            <a:r>
              <a:rPr lang="en-US" sz="800" b="1">
                <a:solidFill>
                  <a:srgbClr val="BBBEBF"/>
                </a:solidFill>
                <a:highlight>
                  <a:srgbClr val="121314"/>
                </a:highlight>
                <a:latin typeface="Courier New"/>
                <a:ea typeface="Courier New"/>
                <a:cs typeface="Courier New"/>
                <a:sym typeface="Courier New"/>
              </a:rPr>
              <a:t>)</a:t>
            </a:r>
            <a:endParaRPr sz="800" b="1">
              <a:solidFill>
                <a:srgbClr val="BBBEBF"/>
              </a:solidFill>
              <a:highlight>
                <a:srgbClr val="121314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800" b="1">
                <a:solidFill>
                  <a:srgbClr val="BBBEBF"/>
                </a:solidFill>
                <a:highlight>
                  <a:srgbClr val="121314"/>
                </a:highlight>
                <a:latin typeface="Courier New"/>
                <a:ea typeface="Courier New"/>
                <a:cs typeface="Courier New"/>
                <a:sym typeface="Courier New"/>
              </a:rPr>
              <a:t>        </a:t>
            </a:r>
            <a:r>
              <a:rPr lang="en-US" sz="800" b="1">
                <a:solidFill>
                  <a:srgbClr val="D2A8FF"/>
                </a:solidFill>
                <a:highlight>
                  <a:srgbClr val="121314"/>
                </a:highlight>
                <a:latin typeface="Courier New"/>
                <a:ea typeface="Courier New"/>
                <a:cs typeface="Courier New"/>
                <a:sym typeface="Courier New"/>
              </a:rPr>
              <a:t>print</a:t>
            </a:r>
            <a:r>
              <a:rPr lang="en-US" sz="800" b="1">
                <a:solidFill>
                  <a:srgbClr val="BBBEBF"/>
                </a:solidFill>
                <a:highlight>
                  <a:srgbClr val="121314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-US" sz="800" b="1">
                <a:solidFill>
                  <a:srgbClr val="A5D6FF"/>
                </a:solidFill>
                <a:highlight>
                  <a:srgbClr val="121314"/>
                </a:highlight>
                <a:latin typeface="Courier New"/>
                <a:ea typeface="Courier New"/>
                <a:cs typeface="Courier New"/>
                <a:sym typeface="Courier New"/>
              </a:rPr>
              <a:t>"MQTT | Connected &amp; Subscribed to cargoservice/pico/led"</a:t>
            </a:r>
            <a:r>
              <a:rPr lang="en-US" sz="800" b="1">
                <a:solidFill>
                  <a:srgbClr val="BBBEBF"/>
                </a:solidFill>
                <a:highlight>
                  <a:srgbClr val="121314"/>
                </a:highlight>
                <a:latin typeface="Courier New"/>
                <a:ea typeface="Courier New"/>
                <a:cs typeface="Courier New"/>
                <a:sym typeface="Courier New"/>
              </a:rPr>
              <a:t>)</a:t>
            </a:r>
            <a:endParaRPr sz="800" b="1">
              <a:solidFill>
                <a:srgbClr val="BBBEBF"/>
              </a:solidFill>
              <a:highlight>
                <a:srgbClr val="121314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800" b="1">
                <a:solidFill>
                  <a:srgbClr val="BBBEBF"/>
                </a:solidFill>
                <a:highlight>
                  <a:srgbClr val="121314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en-US" sz="800" b="1">
                <a:solidFill>
                  <a:srgbClr val="C586C0"/>
                </a:solidFill>
                <a:highlight>
                  <a:srgbClr val="121314"/>
                </a:highlight>
                <a:latin typeface="Courier New"/>
                <a:ea typeface="Courier New"/>
                <a:cs typeface="Courier New"/>
                <a:sym typeface="Courier New"/>
              </a:rPr>
              <a:t>except</a:t>
            </a:r>
            <a:r>
              <a:rPr lang="en-US" sz="800" b="1">
                <a:solidFill>
                  <a:srgbClr val="BBBEBF"/>
                </a:solidFill>
                <a:highlight>
                  <a:srgbClr val="121314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-US" sz="800" b="1">
                <a:solidFill>
                  <a:srgbClr val="4EC9B0"/>
                </a:solidFill>
                <a:highlight>
                  <a:srgbClr val="121314"/>
                </a:highlight>
                <a:latin typeface="Courier New"/>
                <a:ea typeface="Courier New"/>
                <a:cs typeface="Courier New"/>
                <a:sym typeface="Courier New"/>
              </a:rPr>
              <a:t>Exception</a:t>
            </a:r>
            <a:r>
              <a:rPr lang="en-US" sz="800" b="1">
                <a:solidFill>
                  <a:srgbClr val="BBBEBF"/>
                </a:solidFill>
                <a:highlight>
                  <a:srgbClr val="121314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-US" sz="800" b="1">
                <a:solidFill>
                  <a:srgbClr val="C586C0"/>
                </a:solidFill>
                <a:highlight>
                  <a:srgbClr val="121314"/>
                </a:highlight>
                <a:latin typeface="Courier New"/>
                <a:ea typeface="Courier New"/>
                <a:cs typeface="Courier New"/>
                <a:sym typeface="Courier New"/>
              </a:rPr>
              <a:t>as</a:t>
            </a:r>
            <a:r>
              <a:rPr lang="en-US" sz="800" b="1">
                <a:solidFill>
                  <a:srgbClr val="BBBEBF"/>
                </a:solidFill>
                <a:highlight>
                  <a:srgbClr val="121314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-US" sz="800" b="1">
                <a:solidFill>
                  <a:srgbClr val="C9D1D9"/>
                </a:solidFill>
                <a:highlight>
                  <a:srgbClr val="121314"/>
                </a:highlight>
                <a:latin typeface="Courier New"/>
                <a:ea typeface="Courier New"/>
                <a:cs typeface="Courier New"/>
                <a:sym typeface="Courier New"/>
              </a:rPr>
              <a:t>e</a:t>
            </a:r>
            <a:r>
              <a:rPr lang="en-US" sz="800" b="1">
                <a:solidFill>
                  <a:srgbClr val="BBBEBF"/>
                </a:solidFill>
                <a:highlight>
                  <a:srgbClr val="121314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endParaRPr sz="800" b="1">
              <a:solidFill>
                <a:srgbClr val="BBBEBF"/>
              </a:solidFill>
              <a:highlight>
                <a:srgbClr val="121314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800" b="1">
                <a:solidFill>
                  <a:srgbClr val="BBBEBF"/>
                </a:solidFill>
                <a:highlight>
                  <a:srgbClr val="121314"/>
                </a:highlight>
                <a:latin typeface="Courier New"/>
                <a:ea typeface="Courier New"/>
                <a:cs typeface="Courier New"/>
                <a:sym typeface="Courier New"/>
              </a:rPr>
              <a:t>        </a:t>
            </a:r>
            <a:r>
              <a:rPr lang="en-US" sz="800" b="1">
                <a:solidFill>
                  <a:srgbClr val="D2A8FF"/>
                </a:solidFill>
                <a:highlight>
                  <a:srgbClr val="121314"/>
                </a:highlight>
                <a:latin typeface="Courier New"/>
                <a:ea typeface="Courier New"/>
                <a:cs typeface="Courier New"/>
                <a:sym typeface="Courier New"/>
              </a:rPr>
              <a:t>print</a:t>
            </a:r>
            <a:r>
              <a:rPr lang="en-US" sz="800" b="1">
                <a:solidFill>
                  <a:srgbClr val="BBBEBF"/>
                </a:solidFill>
                <a:highlight>
                  <a:srgbClr val="121314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-US" sz="800" b="1">
                <a:solidFill>
                  <a:srgbClr val="A5D6FF"/>
                </a:solidFill>
                <a:highlight>
                  <a:srgbClr val="121314"/>
                </a:highlight>
                <a:latin typeface="Courier New"/>
                <a:ea typeface="Courier New"/>
                <a:cs typeface="Courier New"/>
                <a:sym typeface="Courier New"/>
              </a:rPr>
              <a:t>"MQTT | Initial connection failed:"</a:t>
            </a:r>
            <a:r>
              <a:rPr lang="en-US" sz="800" b="1">
                <a:solidFill>
                  <a:srgbClr val="BBBEBF"/>
                </a:solidFill>
                <a:highlight>
                  <a:srgbClr val="121314"/>
                </a:highlight>
                <a:latin typeface="Courier New"/>
                <a:ea typeface="Courier New"/>
                <a:cs typeface="Courier New"/>
                <a:sym typeface="Courier New"/>
              </a:rPr>
              <a:t>, </a:t>
            </a:r>
            <a:r>
              <a:rPr lang="en-US" sz="800" b="1">
                <a:solidFill>
                  <a:srgbClr val="C9D1D9"/>
                </a:solidFill>
                <a:highlight>
                  <a:srgbClr val="121314"/>
                </a:highlight>
                <a:latin typeface="Courier New"/>
                <a:ea typeface="Courier New"/>
                <a:cs typeface="Courier New"/>
                <a:sym typeface="Courier New"/>
              </a:rPr>
              <a:t>e</a:t>
            </a:r>
            <a:r>
              <a:rPr lang="en-US" sz="800" b="1">
                <a:solidFill>
                  <a:srgbClr val="BBBEBF"/>
                </a:solidFill>
                <a:highlight>
                  <a:srgbClr val="121314"/>
                </a:highlight>
                <a:latin typeface="Courier New"/>
                <a:ea typeface="Courier New"/>
                <a:cs typeface="Courier New"/>
                <a:sym typeface="Courier New"/>
              </a:rPr>
              <a:t>)</a:t>
            </a:r>
            <a:endParaRPr sz="800" b="1">
              <a:solidFill>
                <a:srgbClr val="BBBEBF"/>
              </a:solidFill>
              <a:highlight>
                <a:srgbClr val="121314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800" b="1">
              <a:solidFill>
                <a:srgbClr val="BBBEBF"/>
              </a:solidFill>
              <a:highlight>
                <a:srgbClr val="121314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>
                <a:solidFill>
                  <a:srgbClr val="BBBEBF"/>
                </a:solidFill>
                <a:highlight>
                  <a:srgbClr val="121314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en-US" sz="800" b="1">
                <a:solidFill>
                  <a:srgbClr val="8B949E"/>
                </a:solidFill>
                <a:highlight>
                  <a:srgbClr val="121314"/>
                </a:highlight>
                <a:latin typeface="Courier New"/>
                <a:ea typeface="Courier New"/>
                <a:cs typeface="Courier New"/>
                <a:sym typeface="Courier New"/>
              </a:rPr>
              <a:t># Launch concurrent async loops</a:t>
            </a:r>
            <a:endParaRPr sz="800" b="1">
              <a:solidFill>
                <a:srgbClr val="8B949E"/>
              </a:solidFill>
              <a:highlight>
                <a:srgbClr val="121314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800" b="1">
                <a:solidFill>
                  <a:srgbClr val="BBBEBF"/>
                </a:solidFill>
                <a:highlight>
                  <a:srgbClr val="121314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en-US" sz="800" b="1">
                <a:solidFill>
                  <a:srgbClr val="C586C0"/>
                </a:solidFill>
                <a:highlight>
                  <a:srgbClr val="121314"/>
                </a:highlight>
                <a:latin typeface="Courier New"/>
                <a:ea typeface="Courier New"/>
                <a:cs typeface="Courier New"/>
                <a:sym typeface="Courier New"/>
              </a:rPr>
              <a:t>await</a:t>
            </a:r>
            <a:r>
              <a:rPr lang="en-US" sz="800" b="1">
                <a:solidFill>
                  <a:srgbClr val="BBBEBF"/>
                </a:solidFill>
                <a:highlight>
                  <a:srgbClr val="121314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-US" sz="800" b="1">
                <a:solidFill>
                  <a:srgbClr val="4EC9B0"/>
                </a:solidFill>
                <a:highlight>
                  <a:srgbClr val="121314"/>
                </a:highlight>
                <a:latin typeface="Courier New"/>
                <a:ea typeface="Courier New"/>
                <a:cs typeface="Courier New"/>
                <a:sym typeface="Courier New"/>
              </a:rPr>
              <a:t>asyncio</a:t>
            </a:r>
            <a:r>
              <a:rPr lang="en-US" sz="800" b="1">
                <a:solidFill>
                  <a:srgbClr val="BBBEBF"/>
                </a:solidFill>
                <a:highlight>
                  <a:srgbClr val="121314"/>
                </a:highlight>
                <a:latin typeface="Courier New"/>
                <a:ea typeface="Courier New"/>
                <a:cs typeface="Courier New"/>
                <a:sym typeface="Courier New"/>
              </a:rPr>
              <a:t>.gather(</a:t>
            </a:r>
            <a:endParaRPr sz="800" b="1">
              <a:solidFill>
                <a:srgbClr val="BBBEBF"/>
              </a:solidFill>
              <a:highlight>
                <a:srgbClr val="121314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800" b="1">
                <a:solidFill>
                  <a:srgbClr val="BBBEBF"/>
                </a:solidFill>
                <a:highlight>
                  <a:srgbClr val="121314"/>
                </a:highlight>
                <a:latin typeface="Courier New"/>
                <a:ea typeface="Courier New"/>
                <a:cs typeface="Courier New"/>
                <a:sym typeface="Courier New"/>
              </a:rPr>
              <a:t>        </a:t>
            </a:r>
            <a:r>
              <a:rPr lang="en-US" sz="800" b="1">
                <a:solidFill>
                  <a:srgbClr val="D2A8FF"/>
                </a:solidFill>
                <a:highlight>
                  <a:srgbClr val="121314"/>
                </a:highlight>
                <a:latin typeface="Courier New"/>
                <a:ea typeface="Courier New"/>
                <a:cs typeface="Courier New"/>
                <a:sym typeface="Courier New"/>
              </a:rPr>
              <a:t>led_control_loop</a:t>
            </a:r>
            <a:r>
              <a:rPr lang="en-US" sz="800" b="1">
                <a:solidFill>
                  <a:srgbClr val="BBBEBF"/>
                </a:solidFill>
                <a:highlight>
                  <a:srgbClr val="121314"/>
                </a:highlight>
                <a:latin typeface="Courier New"/>
                <a:ea typeface="Courier New"/>
                <a:cs typeface="Courier New"/>
                <a:sym typeface="Courier New"/>
              </a:rPr>
              <a:t>(),</a:t>
            </a:r>
            <a:endParaRPr sz="800" b="1">
              <a:solidFill>
                <a:srgbClr val="BBBEBF"/>
              </a:solidFill>
              <a:highlight>
                <a:srgbClr val="121314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800" b="1">
                <a:solidFill>
                  <a:srgbClr val="BBBEBF"/>
                </a:solidFill>
                <a:highlight>
                  <a:srgbClr val="121314"/>
                </a:highlight>
                <a:latin typeface="Courier New"/>
                <a:ea typeface="Courier New"/>
                <a:cs typeface="Courier New"/>
                <a:sym typeface="Courier New"/>
              </a:rPr>
              <a:t>        </a:t>
            </a:r>
            <a:r>
              <a:rPr lang="en-US" sz="800" b="1">
                <a:solidFill>
                  <a:srgbClr val="D2A8FF"/>
                </a:solidFill>
                <a:highlight>
                  <a:srgbClr val="121314"/>
                </a:highlight>
                <a:latin typeface="Courier New"/>
                <a:ea typeface="Courier New"/>
                <a:cs typeface="Courier New"/>
                <a:sym typeface="Courier New"/>
              </a:rPr>
              <a:t>sonar_mqtt_loop</a:t>
            </a:r>
            <a:r>
              <a:rPr lang="en-US" sz="800" b="1">
                <a:solidFill>
                  <a:srgbClr val="BBBEBF"/>
                </a:solidFill>
                <a:highlight>
                  <a:srgbClr val="121314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-US" sz="800" b="1">
                <a:solidFill>
                  <a:srgbClr val="C9D1D9"/>
                </a:solidFill>
                <a:highlight>
                  <a:srgbClr val="121314"/>
                </a:highlight>
                <a:latin typeface="Courier New"/>
                <a:ea typeface="Courier New"/>
                <a:cs typeface="Courier New"/>
                <a:sym typeface="Courier New"/>
              </a:rPr>
              <a:t>client</a:t>
            </a:r>
            <a:r>
              <a:rPr lang="en-US" sz="800" b="1">
                <a:solidFill>
                  <a:srgbClr val="BBBEBF"/>
                </a:solidFill>
                <a:highlight>
                  <a:srgbClr val="121314"/>
                </a:highlight>
                <a:latin typeface="Courier New"/>
                <a:ea typeface="Courier New"/>
                <a:cs typeface="Courier New"/>
                <a:sym typeface="Courier New"/>
              </a:rPr>
              <a:t>),</a:t>
            </a:r>
            <a:endParaRPr sz="800" b="1">
              <a:solidFill>
                <a:srgbClr val="BBBEBF"/>
              </a:solidFill>
              <a:highlight>
                <a:srgbClr val="121314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800" b="1">
                <a:solidFill>
                  <a:srgbClr val="BBBEBF"/>
                </a:solidFill>
                <a:highlight>
                  <a:srgbClr val="121314"/>
                </a:highlight>
                <a:latin typeface="Courier New"/>
                <a:ea typeface="Courier New"/>
                <a:cs typeface="Courier New"/>
                <a:sym typeface="Courier New"/>
              </a:rPr>
              <a:t>        </a:t>
            </a:r>
            <a:r>
              <a:rPr lang="en-US" sz="800" b="1">
                <a:solidFill>
                  <a:srgbClr val="D2A8FF"/>
                </a:solidFill>
                <a:highlight>
                  <a:srgbClr val="121314"/>
                </a:highlight>
                <a:latin typeface="Courier New"/>
                <a:ea typeface="Courier New"/>
                <a:cs typeface="Courier New"/>
                <a:sym typeface="Courier New"/>
              </a:rPr>
              <a:t>mqtt_check_loop</a:t>
            </a:r>
            <a:r>
              <a:rPr lang="en-US" sz="800" b="1">
                <a:solidFill>
                  <a:srgbClr val="BBBEBF"/>
                </a:solidFill>
                <a:highlight>
                  <a:srgbClr val="121314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-US" sz="800" b="1">
                <a:solidFill>
                  <a:srgbClr val="C9D1D9"/>
                </a:solidFill>
                <a:highlight>
                  <a:srgbClr val="121314"/>
                </a:highlight>
                <a:latin typeface="Courier New"/>
                <a:ea typeface="Courier New"/>
                <a:cs typeface="Courier New"/>
                <a:sym typeface="Courier New"/>
              </a:rPr>
              <a:t>client</a:t>
            </a:r>
            <a:r>
              <a:rPr lang="en-US" sz="800" b="1">
                <a:solidFill>
                  <a:srgbClr val="BBBEBF"/>
                </a:solidFill>
                <a:highlight>
                  <a:srgbClr val="121314"/>
                </a:highlight>
                <a:latin typeface="Courier New"/>
                <a:ea typeface="Courier New"/>
                <a:cs typeface="Courier New"/>
                <a:sym typeface="Courier New"/>
              </a:rPr>
              <a:t>)</a:t>
            </a:r>
            <a:endParaRPr sz="800" b="1">
              <a:solidFill>
                <a:srgbClr val="BBBEBF"/>
              </a:solidFill>
              <a:highlight>
                <a:srgbClr val="121314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>
                <a:solidFill>
                  <a:srgbClr val="BBBEBF"/>
                </a:solidFill>
                <a:highlight>
                  <a:srgbClr val="121314"/>
                </a:highlight>
                <a:latin typeface="Courier New"/>
                <a:ea typeface="Courier New"/>
                <a:cs typeface="Courier New"/>
                <a:sym typeface="Courier New"/>
              </a:rPr>
              <a:t>    )</a:t>
            </a:r>
            <a:endParaRPr sz="800" b="1">
              <a:solidFill>
                <a:srgbClr val="FF7B72"/>
              </a:solidFill>
              <a:highlight>
                <a:srgbClr val="121314"/>
              </a:highlight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208" name="Google Shape;208;p18"/>
          <p:cNvSpPr txBox="1"/>
          <p:nvPr/>
        </p:nvSpPr>
        <p:spPr>
          <a:xfrm>
            <a:off x="10326310" y="502358"/>
            <a:ext cx="3081000" cy="38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>
                <a:solidFill>
                  <a:srgbClr val="94A3B8"/>
                </a:solidFill>
                <a:latin typeface="Inter Medium"/>
                <a:ea typeface="Inter Medium"/>
                <a:cs typeface="Inter Medium"/>
                <a:sym typeface="Inter Medium"/>
              </a:rPr>
              <a:t>pico_sonar_led.py</a:t>
            </a:r>
            <a:endParaRPr sz="1300">
              <a:solidFill>
                <a:srgbClr val="94A3B8"/>
              </a:solidFill>
              <a:latin typeface="Inter Medium"/>
              <a:ea typeface="Inter Medium"/>
              <a:cs typeface="Inter Medium"/>
              <a:sym typeface="Inter Medium"/>
            </a:endParaRPr>
          </a:p>
        </p:txBody>
      </p:sp>
      <p:sp>
        <p:nvSpPr>
          <p:cNvPr id="209" name="Google Shape;209;p18"/>
          <p:cNvSpPr txBox="1"/>
          <p:nvPr/>
        </p:nvSpPr>
        <p:spPr>
          <a:xfrm>
            <a:off x="192450" y="2383675"/>
            <a:ext cx="5589000" cy="317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-US" sz="1800" dirty="0">
                <a:solidFill>
                  <a:schemeClr val="lt1"/>
                </a:solidFill>
                <a:latin typeface="Space Grotesk SemiBold"/>
                <a:ea typeface="Space Grotesk SemiBold"/>
                <a:cs typeface="Space Grotesk SemiBold"/>
                <a:sym typeface="Space Grotesk SemiBold"/>
              </a:rPr>
              <a:t>Raspberry Pi Pico W</a:t>
            </a:r>
            <a:endParaRPr sz="1800" dirty="0">
              <a:solidFill>
                <a:schemeClr val="lt1"/>
              </a:solidFill>
              <a:latin typeface="Space Grotesk SemiBold"/>
              <a:ea typeface="Space Grotesk SemiBold"/>
              <a:cs typeface="Space Grotesk SemiBold"/>
              <a:sym typeface="Space Grotesk SemiBold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endParaRPr sz="1800" dirty="0">
              <a:solidFill>
                <a:srgbClr val="F8FAFC"/>
              </a:solidFill>
              <a:latin typeface="Space Grotesk SemiBold"/>
              <a:ea typeface="Space Grotesk SemiBold"/>
              <a:cs typeface="Space Grotesk SemiBold"/>
              <a:sym typeface="Space Grotesk SemiBold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-US" sz="1200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Il passaggio </a:t>
            </a:r>
            <a:r>
              <a:rPr lang="en-US" sz="1200" dirty="0" err="1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dall'emulatore</a:t>
            </a:r>
            <a:r>
              <a:rPr lang="en-US" sz="1200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software </a:t>
            </a:r>
            <a:r>
              <a:rPr lang="en-US" sz="1200" dirty="0" err="1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all'hardware</a:t>
            </a:r>
            <a:r>
              <a:rPr lang="en-US" sz="1200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200" dirty="0" err="1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fisico</a:t>
            </a:r>
            <a:r>
              <a:rPr lang="en-US" sz="1200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200" dirty="0" err="1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reale</a:t>
            </a:r>
            <a:r>
              <a:rPr lang="en-US" sz="1200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è </a:t>
            </a:r>
            <a:r>
              <a:rPr lang="en-US" sz="1200" dirty="0" err="1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avvenuto</a:t>
            </a:r>
            <a:r>
              <a:rPr lang="en-US" sz="1200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a caldo, senza </a:t>
            </a:r>
            <a:r>
              <a:rPr lang="en-US" sz="1200" dirty="0" err="1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modificare</a:t>
            </a:r>
            <a:r>
              <a:rPr lang="en-US" sz="1200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200" dirty="0" err="1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l'orchestratore</a:t>
            </a:r>
            <a:r>
              <a:rPr lang="en-US" sz="1200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, </a:t>
            </a:r>
            <a:r>
              <a:rPr lang="en-US" sz="1200" dirty="0" err="1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grazie</a:t>
            </a:r>
            <a:r>
              <a:rPr lang="en-US" sz="1200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200" dirty="0" err="1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all'interfaccia</a:t>
            </a:r>
            <a:r>
              <a:rPr lang="en-US" sz="1200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200" dirty="0" err="1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standardizzata</a:t>
            </a:r>
            <a:r>
              <a:rPr lang="en-US" sz="1200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MQTT.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endParaRPr sz="1800" dirty="0">
              <a:solidFill>
                <a:srgbClr val="F8FAFC"/>
              </a:solidFill>
              <a:latin typeface="Space Grotesk SemiBold"/>
              <a:ea typeface="Space Grotesk SemiBold"/>
              <a:cs typeface="Space Grotesk SemiBold"/>
              <a:sym typeface="Space Grotesk SemiBold"/>
            </a:endParaRPr>
          </a:p>
          <a:p>
            <a:pPr marL="457200" lvl="0" indent="-3048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200"/>
              <a:buChar char="●"/>
            </a:pPr>
            <a:r>
              <a:rPr lang="en-US" sz="1200" dirty="0">
                <a:solidFill>
                  <a:srgbClr val="F8FAFC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Sonar HC-SR04:</a:t>
            </a:r>
            <a:r>
              <a:rPr lang="en-US" sz="1200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200" dirty="0" err="1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Collegato</a:t>
            </a:r>
            <a:r>
              <a:rPr lang="en-US" sz="1200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via pin GPIO per </a:t>
            </a:r>
            <a:r>
              <a:rPr lang="en-US" sz="1200" dirty="0" err="1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rilevare</a:t>
            </a:r>
            <a:r>
              <a:rPr lang="en-US" sz="1200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200" dirty="0" err="1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l'ostacolo</a:t>
            </a:r>
            <a:r>
              <a:rPr lang="en-US" sz="1200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.</a:t>
            </a:r>
          </a:p>
          <a:p>
            <a:pPr marL="457200" lvl="0" indent="-3048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200"/>
              <a:buChar char="●"/>
            </a:pPr>
            <a:r>
              <a:rPr lang="en-US" sz="1200" dirty="0">
                <a:solidFill>
                  <a:srgbClr val="F8FAFC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LED </a:t>
            </a:r>
            <a:r>
              <a:rPr lang="en-US" sz="1200" dirty="0" err="1">
                <a:solidFill>
                  <a:srgbClr val="F8FAFC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Fisico</a:t>
            </a:r>
            <a:r>
              <a:rPr lang="en-US" sz="1200" dirty="0">
                <a:solidFill>
                  <a:srgbClr val="F8FAFC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:</a:t>
            </a:r>
            <a:r>
              <a:rPr lang="en-US" sz="1200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200" dirty="0" err="1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Lampeggiante</a:t>
            </a:r>
            <a:r>
              <a:rPr lang="en-US" sz="1200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in moto, </a:t>
            </a:r>
            <a:r>
              <a:rPr lang="en-US" sz="1200" dirty="0" err="1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verde</a:t>
            </a:r>
            <a:r>
              <a:rPr lang="en-US" sz="1200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200" dirty="0" err="1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fisso</a:t>
            </a:r>
            <a:r>
              <a:rPr lang="en-US" sz="1200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in </a:t>
            </a:r>
            <a:r>
              <a:rPr lang="en-US" sz="1200" dirty="0" err="1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blocco</a:t>
            </a:r>
            <a:r>
              <a:rPr lang="en-US" sz="120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.</a:t>
            </a:r>
            <a:endParaRPr lang="en-US" dirty="0">
              <a:solidFill>
                <a:schemeClr val="dk1"/>
              </a:solidFill>
              <a:ea typeface="Inter"/>
            </a:endParaRPr>
          </a:p>
          <a:p>
            <a:pPr marL="457200" lvl="0" indent="-3048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200"/>
              <a:buChar char="●"/>
            </a:pPr>
            <a:r>
              <a:rPr lang="en-US" sz="1200">
                <a:solidFill>
                  <a:srgbClr val="F8FAFC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MicroPython</a:t>
            </a:r>
            <a:r>
              <a:rPr lang="en-US" sz="1200" dirty="0">
                <a:solidFill>
                  <a:srgbClr val="F8FAFC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:</a:t>
            </a:r>
            <a:r>
              <a:rPr lang="en-US" sz="1200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200" dirty="0" err="1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Codice</a:t>
            </a:r>
            <a:r>
              <a:rPr lang="en-US" sz="1200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200" dirty="0" err="1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pulito</a:t>
            </a:r>
            <a:r>
              <a:rPr lang="en-US" sz="1200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e </a:t>
            </a:r>
            <a:r>
              <a:rPr lang="en-US" sz="1200" dirty="0" err="1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asincrono</a:t>
            </a:r>
            <a:r>
              <a:rPr lang="en-US" sz="1200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per </a:t>
            </a:r>
            <a:r>
              <a:rPr lang="en-US" sz="1200" dirty="0" err="1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l'invio</a:t>
            </a:r>
            <a:r>
              <a:rPr lang="en-US" sz="1200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200" dirty="0" err="1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distanze</a:t>
            </a:r>
            <a:r>
              <a:rPr lang="en-US" sz="1200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.</a:t>
            </a:r>
            <a:endParaRPr sz="1800" dirty="0">
              <a:solidFill>
                <a:srgbClr val="F8FAFC"/>
              </a:solidFill>
              <a:latin typeface="Space Grotesk SemiBold"/>
              <a:ea typeface="Space Grotesk SemiBold"/>
              <a:cs typeface="Space Grotesk SemiBold"/>
              <a:sym typeface="Space Grotesk SemiBold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32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4" name="Google Shape;214;p19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525" y="9525"/>
            <a:ext cx="12172950" cy="68389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15" name="Google Shape;215;p19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-466725" y="4467225"/>
            <a:ext cx="3333750" cy="33337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16" name="Google Shape;216;p19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81025" y="1181100"/>
            <a:ext cx="5348287" cy="5191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17" name="Google Shape;217;p19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6262687" y="1181100"/>
            <a:ext cx="5348287" cy="5191125"/>
          </a:xfrm>
          <a:prstGeom prst="rect">
            <a:avLst/>
          </a:prstGeom>
          <a:noFill/>
          <a:ln>
            <a:noFill/>
          </a:ln>
        </p:spPr>
      </p:pic>
      <p:sp>
        <p:nvSpPr>
          <p:cNvPr id="218" name="Google Shape;218;p19"/>
          <p:cNvSpPr txBox="1"/>
          <p:nvPr/>
        </p:nvSpPr>
        <p:spPr>
          <a:xfrm>
            <a:off x="1266825" y="2533650"/>
            <a:ext cx="4535566" cy="2952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38BDF8"/>
                </a:solidFill>
                <a:latin typeface="Space Grotesk SemiBold"/>
                <a:ea typeface="Space Grotesk SemiBold"/>
                <a:cs typeface="Space Grotesk SemiBold"/>
                <a:sym typeface="Space Grotesk SemiBold"/>
              </a:rPr>
              <a:t>Out of Service (Allarme)</a:t>
            </a:r>
            <a:endParaRPr/>
          </a:p>
        </p:txBody>
      </p:sp>
      <p:sp>
        <p:nvSpPr>
          <p:cNvPr id="219" name="Google Shape;219;p19"/>
          <p:cNvSpPr txBox="1"/>
          <p:nvPr/>
        </p:nvSpPr>
        <p:spPr>
          <a:xfrm>
            <a:off x="6948487" y="2709862"/>
            <a:ext cx="4535700" cy="2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38BDF8"/>
                </a:solidFill>
                <a:latin typeface="Space Grotesk SemiBold"/>
                <a:ea typeface="Space Grotesk SemiBold"/>
                <a:cs typeface="Space Grotesk SemiBold"/>
                <a:sym typeface="Space Grotesk SemiBold"/>
              </a:rPr>
              <a:t>Ripristino </a:t>
            </a:r>
            <a:r>
              <a:rPr lang="en-US" sz="1800" i="0" u="none" strike="noStrike" cap="none">
                <a:solidFill>
                  <a:srgbClr val="38BDF8"/>
                </a:solidFill>
                <a:latin typeface="Space Grotesk SemiBold"/>
                <a:ea typeface="Space Grotesk SemiBold"/>
                <a:cs typeface="Space Grotesk SemiBold"/>
                <a:sym typeface="Space Grotesk SemiBold"/>
              </a:rPr>
              <a:t>Auto</a:t>
            </a:r>
            <a:r>
              <a:rPr lang="en-US" sz="1800" b="0" i="0" u="none" strike="noStrike" cap="none">
                <a:solidFill>
                  <a:srgbClr val="38BDF8"/>
                </a:solidFill>
                <a:latin typeface="Space Grotesk SemiBold"/>
                <a:ea typeface="Space Grotesk SemiBold"/>
                <a:cs typeface="Space Grotesk SemiBold"/>
                <a:sym typeface="Space Grotesk SemiBold"/>
              </a:rPr>
              <a:t>matico</a:t>
            </a:r>
            <a:endParaRPr/>
          </a:p>
        </p:txBody>
      </p:sp>
      <p:pic>
        <p:nvPicPr>
          <p:cNvPr id="220" name="Google Shape;220;p19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923925" y="2566987"/>
            <a:ext cx="228600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221" name="Google Shape;221;p19"/>
          <p:cNvSpPr txBox="1"/>
          <p:nvPr/>
        </p:nvSpPr>
        <p:spPr>
          <a:xfrm>
            <a:off x="1162050" y="2943225"/>
            <a:ext cx="4424400" cy="1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F8FAFC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Rilevamento:</a:t>
            </a:r>
            <a:r>
              <a:rPr lang="en-US" sz="1200" b="0" i="0" u="none" strike="noStrike" cap="non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Sonar misura una distanza </a:t>
            </a:r>
            <a:r>
              <a:rPr lang="en-US" sz="120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maggiore </a:t>
            </a:r>
            <a:r>
              <a:rPr lang="en-US" sz="1200" b="0" i="0" u="none" strike="noStrike" cap="non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di DFREE.</a:t>
            </a:r>
            <a:endParaRPr/>
          </a:p>
        </p:txBody>
      </p:sp>
      <p:sp>
        <p:nvSpPr>
          <p:cNvPr id="222" name="Google Shape;222;p19"/>
          <p:cNvSpPr txBox="1"/>
          <p:nvPr/>
        </p:nvSpPr>
        <p:spPr>
          <a:xfrm>
            <a:off x="1162050" y="3295650"/>
            <a:ext cx="4424362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F8FAFC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Timeout di Sicurezza:</a:t>
            </a:r>
            <a:r>
              <a:rPr lang="en-US" sz="1200" b="0" i="0" u="none" strike="noStrike" cap="non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Se la violazione persiste per </a:t>
            </a:r>
            <a:r>
              <a:rPr lang="en-US" sz="1200" b="0" i="0" u="none" strike="noStrike" cap="none">
                <a:solidFill>
                  <a:srgbClr val="F8FAFC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3 secondi</a:t>
            </a:r>
            <a:r>
              <a:rPr lang="en-US" sz="1200" b="0" i="0" u="none" strike="noStrike" cap="non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di fila, scatta la transizione di allarme.</a:t>
            </a:r>
            <a:endParaRPr/>
          </a:p>
        </p:txBody>
      </p:sp>
      <p:sp>
        <p:nvSpPr>
          <p:cNvPr id="223" name="Google Shape;223;p19"/>
          <p:cNvSpPr txBox="1"/>
          <p:nvPr/>
        </p:nvSpPr>
        <p:spPr>
          <a:xfrm>
            <a:off x="1162050" y="3867150"/>
            <a:ext cx="4424362" cy="466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F8FAFC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Arresto Istantaneo:</a:t>
            </a:r>
            <a:r>
              <a:rPr lang="en-US" sz="1200" b="0" i="0" u="none" strike="noStrike" cap="non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Viene emesso l'evento alarm(sonar_failure) che arresta il robot.</a:t>
            </a:r>
            <a:endParaRPr/>
          </a:p>
        </p:txBody>
      </p:sp>
      <p:sp>
        <p:nvSpPr>
          <p:cNvPr id="224" name="Google Shape;224;p19"/>
          <p:cNvSpPr txBox="1"/>
          <p:nvPr/>
        </p:nvSpPr>
        <p:spPr>
          <a:xfrm>
            <a:off x="1162050" y="4448175"/>
            <a:ext cx="4424362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F8FAFC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Segnalazione Visiva:</a:t>
            </a:r>
            <a:r>
              <a:rPr lang="en-US" sz="1200" b="0" i="0" u="none" strike="noStrike" cap="non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Il LED passa da lampeggiante ad acceso fisso.</a:t>
            </a:r>
            <a:endParaRPr/>
          </a:p>
        </p:txBody>
      </p:sp>
      <p:pic>
        <p:nvPicPr>
          <p:cNvPr id="225" name="Google Shape;225;p19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6605587" y="2743200"/>
            <a:ext cx="228600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226" name="Google Shape;226;p19"/>
          <p:cNvSpPr txBox="1"/>
          <p:nvPr/>
        </p:nvSpPr>
        <p:spPr>
          <a:xfrm>
            <a:off x="6843712" y="3119437"/>
            <a:ext cx="4424362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F8FAFC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Monitoraggio Attivo:</a:t>
            </a:r>
            <a:r>
              <a:rPr lang="en-US" sz="1200" b="0" i="0" u="none" strike="noStrike" cap="non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Il sistema continua a campionare la distanza anche in stato di fermo.</a:t>
            </a:r>
            <a:endParaRPr/>
          </a:p>
        </p:txBody>
      </p:sp>
      <p:sp>
        <p:nvSpPr>
          <p:cNvPr id="227" name="Google Shape;227;p19"/>
          <p:cNvSpPr txBox="1"/>
          <p:nvPr/>
        </p:nvSpPr>
        <p:spPr>
          <a:xfrm>
            <a:off x="6843712" y="3690937"/>
            <a:ext cx="44244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F8FAFC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Filtro Stabilità:</a:t>
            </a:r>
            <a:r>
              <a:rPr lang="en-US" sz="1200" b="0" i="0" u="none" strike="noStrike" cap="non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Al rientro dei parametri di sicurezza inizia la procedura di ripristino.</a:t>
            </a:r>
            <a:endParaRPr/>
          </a:p>
        </p:txBody>
      </p:sp>
      <p:sp>
        <p:nvSpPr>
          <p:cNvPr id="228" name="Google Shape;228;p19"/>
          <p:cNvSpPr txBox="1"/>
          <p:nvPr/>
        </p:nvSpPr>
        <p:spPr>
          <a:xfrm>
            <a:off x="6843712" y="4262437"/>
            <a:ext cx="4424362" cy="466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F8FAFC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Resume Activity:</a:t>
            </a:r>
            <a:r>
              <a:rPr lang="en-US" sz="1200" b="0" i="0" u="none" strike="noStrike" cap="non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Il robot riprende automaticamente il tragitto memorizzato verso l'ultima destinazione (CurrentDest).</a:t>
            </a:r>
            <a:endParaRPr/>
          </a:p>
        </p:txBody>
      </p:sp>
      <p:sp>
        <p:nvSpPr>
          <p:cNvPr id="229" name="Google Shape;229;p19"/>
          <p:cNvSpPr txBox="1"/>
          <p:nvPr/>
        </p:nvSpPr>
        <p:spPr>
          <a:xfrm>
            <a:off x="923925" y="2943225"/>
            <a:ext cx="152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0EA5E9"/>
                </a:solidFill>
                <a:latin typeface="Inter"/>
                <a:ea typeface="Inter"/>
                <a:cs typeface="Inter"/>
                <a:sym typeface="Inter"/>
              </a:rPr>
              <a:t>→</a:t>
            </a:r>
            <a:endParaRPr/>
          </a:p>
        </p:txBody>
      </p:sp>
      <p:sp>
        <p:nvSpPr>
          <p:cNvPr id="230" name="Google Shape;230;p19"/>
          <p:cNvSpPr txBox="1"/>
          <p:nvPr/>
        </p:nvSpPr>
        <p:spPr>
          <a:xfrm>
            <a:off x="923925" y="3295650"/>
            <a:ext cx="152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0EA5E9"/>
                </a:solidFill>
                <a:latin typeface="Inter"/>
                <a:ea typeface="Inter"/>
                <a:cs typeface="Inter"/>
                <a:sym typeface="Inter"/>
              </a:rPr>
              <a:t>→</a:t>
            </a:r>
            <a:endParaRPr/>
          </a:p>
        </p:txBody>
      </p:sp>
      <p:sp>
        <p:nvSpPr>
          <p:cNvPr id="231" name="Google Shape;231;p19"/>
          <p:cNvSpPr txBox="1"/>
          <p:nvPr/>
        </p:nvSpPr>
        <p:spPr>
          <a:xfrm>
            <a:off x="923925" y="3867150"/>
            <a:ext cx="152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0EA5E9"/>
                </a:solidFill>
                <a:latin typeface="Inter"/>
                <a:ea typeface="Inter"/>
                <a:cs typeface="Inter"/>
                <a:sym typeface="Inter"/>
              </a:rPr>
              <a:t>→</a:t>
            </a:r>
            <a:endParaRPr/>
          </a:p>
        </p:txBody>
      </p:sp>
      <p:sp>
        <p:nvSpPr>
          <p:cNvPr id="232" name="Google Shape;232;p19"/>
          <p:cNvSpPr txBox="1"/>
          <p:nvPr/>
        </p:nvSpPr>
        <p:spPr>
          <a:xfrm>
            <a:off x="923925" y="4448175"/>
            <a:ext cx="152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0EA5E9"/>
                </a:solidFill>
                <a:latin typeface="Inter"/>
                <a:ea typeface="Inter"/>
                <a:cs typeface="Inter"/>
                <a:sym typeface="Inter"/>
              </a:rPr>
              <a:t>→</a:t>
            </a:r>
            <a:endParaRPr/>
          </a:p>
        </p:txBody>
      </p:sp>
      <p:sp>
        <p:nvSpPr>
          <p:cNvPr id="233" name="Google Shape;233;p19"/>
          <p:cNvSpPr txBox="1"/>
          <p:nvPr/>
        </p:nvSpPr>
        <p:spPr>
          <a:xfrm>
            <a:off x="6605587" y="3119437"/>
            <a:ext cx="152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0EA5E9"/>
                </a:solidFill>
                <a:latin typeface="Inter"/>
                <a:ea typeface="Inter"/>
                <a:cs typeface="Inter"/>
                <a:sym typeface="Inter"/>
              </a:rPr>
              <a:t>→</a:t>
            </a:r>
            <a:endParaRPr/>
          </a:p>
        </p:txBody>
      </p:sp>
      <p:sp>
        <p:nvSpPr>
          <p:cNvPr id="234" name="Google Shape;234;p19"/>
          <p:cNvSpPr txBox="1"/>
          <p:nvPr/>
        </p:nvSpPr>
        <p:spPr>
          <a:xfrm>
            <a:off x="6605587" y="3690937"/>
            <a:ext cx="152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0EA5E9"/>
                </a:solidFill>
                <a:latin typeface="Inter"/>
                <a:ea typeface="Inter"/>
                <a:cs typeface="Inter"/>
                <a:sym typeface="Inter"/>
              </a:rPr>
              <a:t>→</a:t>
            </a:r>
            <a:endParaRPr/>
          </a:p>
        </p:txBody>
      </p:sp>
      <p:sp>
        <p:nvSpPr>
          <p:cNvPr id="235" name="Google Shape;235;p19"/>
          <p:cNvSpPr txBox="1"/>
          <p:nvPr/>
        </p:nvSpPr>
        <p:spPr>
          <a:xfrm>
            <a:off x="6605587" y="4262437"/>
            <a:ext cx="152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0EA5E9"/>
                </a:solidFill>
                <a:latin typeface="Inter"/>
                <a:ea typeface="Inter"/>
                <a:cs typeface="Inter"/>
                <a:sym typeface="Inter"/>
              </a:rPr>
              <a:t>→</a:t>
            </a:r>
            <a:endParaRPr/>
          </a:p>
        </p:txBody>
      </p:sp>
      <p:sp>
        <p:nvSpPr>
          <p:cNvPr id="236" name="Google Shape;236;p19"/>
          <p:cNvSpPr txBox="1"/>
          <p:nvPr/>
        </p:nvSpPr>
        <p:spPr>
          <a:xfrm>
            <a:off x="581025" y="485775"/>
            <a:ext cx="11581447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50" b="0" i="0" u="none" strike="noStrike" cap="none">
                <a:solidFill>
                  <a:srgbClr val="38BDF8"/>
                </a:solidFill>
                <a:latin typeface="Space Grotesk SemiBold"/>
                <a:ea typeface="Space Grotesk SemiBold"/>
                <a:cs typeface="Space Grotesk SemiBold"/>
                <a:sym typeface="Space Grotesk SemiBold"/>
              </a:rPr>
              <a:t>Protocollo Sicurezza &amp; Gestione</a:t>
            </a:r>
            <a:endParaRPr/>
          </a:p>
        </p:txBody>
      </p:sp>
      <p:sp>
        <p:nvSpPr>
          <p:cNvPr id="237" name="Google Shape;237;p19"/>
          <p:cNvSpPr txBox="1"/>
          <p:nvPr/>
        </p:nvSpPr>
        <p:spPr>
          <a:xfrm>
            <a:off x="3271425" y="3808625"/>
            <a:ext cx="6300300" cy="67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3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Google Shape;242;p20"/>
          <p:cNvSpPr txBox="1"/>
          <p:nvPr/>
        </p:nvSpPr>
        <p:spPr>
          <a:xfrm>
            <a:off x="581025" y="485775"/>
            <a:ext cx="11581447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50" b="0" i="0" u="none" strike="noStrike" cap="none">
                <a:solidFill>
                  <a:srgbClr val="38BDF8"/>
                </a:solidFill>
                <a:latin typeface="Space Grotesk SemiBold"/>
                <a:ea typeface="Space Grotesk SemiBold"/>
                <a:cs typeface="Space Grotesk SemiBold"/>
                <a:sym typeface="Space Grotesk SemiBold"/>
              </a:rPr>
              <a:t>Strategia Validation &amp; Test Plans</a:t>
            </a:r>
            <a:endParaRPr/>
          </a:p>
        </p:txBody>
      </p:sp>
      <p:graphicFrame>
        <p:nvGraphicFramePr>
          <p:cNvPr id="243" name="Google Shape;243;p20"/>
          <p:cNvGraphicFramePr/>
          <p:nvPr/>
        </p:nvGraphicFramePr>
        <p:xfrm>
          <a:off x="952500" y="2011800"/>
          <a:ext cx="10287000" cy="3261210"/>
        </p:xfrm>
        <a:graphic>
          <a:graphicData uri="http://schemas.openxmlformats.org/drawingml/2006/table">
            <a:tbl>
              <a:tblPr>
                <a:noFill/>
                <a:tableStyleId>{05AD940E-B47E-4D0C-9D39-0C98CCD1D847}</a:tableStyleId>
              </a:tblPr>
              <a:tblGrid>
                <a:gridCol w="16776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02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845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2219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7205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>
                          <a:solidFill>
                            <a:srgbClr val="38BDF8"/>
                          </a:solidFill>
                          <a:latin typeface="Space Grotesk SemiBold"/>
                          <a:ea typeface="Space Grotesk SemiBold"/>
                          <a:cs typeface="Space Grotesk SemiBold"/>
                          <a:sym typeface="Space Grotesk SemiBold"/>
                        </a:rPr>
                        <a:t>Test ID</a:t>
                      </a:r>
                      <a:endParaRPr>
                        <a:solidFill>
                          <a:srgbClr val="38BDF8"/>
                        </a:solidFill>
                        <a:latin typeface="Space Grotesk SemiBold"/>
                        <a:ea typeface="Space Grotesk SemiBold"/>
                        <a:cs typeface="Space Grotesk SemiBold"/>
                        <a:sym typeface="Space Grotesk SemiBold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>
                          <a:solidFill>
                            <a:srgbClr val="38BDF8"/>
                          </a:solidFill>
                          <a:latin typeface="Space Grotesk SemiBold"/>
                          <a:ea typeface="Space Grotesk SemiBold"/>
                          <a:cs typeface="Space Grotesk SemiBold"/>
                          <a:sym typeface="Space Grotesk SemiBold"/>
                        </a:rPr>
                        <a:t>Ambito</a:t>
                      </a:r>
                      <a:endParaRPr>
                        <a:solidFill>
                          <a:srgbClr val="38BDF8"/>
                        </a:solidFill>
                        <a:latin typeface="Space Grotesk SemiBold"/>
                        <a:ea typeface="Space Grotesk SemiBold"/>
                        <a:cs typeface="Space Grotesk SemiBold"/>
                        <a:sym typeface="Space Grotesk SemiBold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>
                          <a:solidFill>
                            <a:srgbClr val="38BDF8"/>
                          </a:solidFill>
                          <a:latin typeface="Space Grotesk SemiBold"/>
                          <a:ea typeface="Space Grotesk SemiBold"/>
                          <a:cs typeface="Space Grotesk SemiBold"/>
                          <a:sym typeface="Space Grotesk SemiBold"/>
                        </a:rPr>
                        <a:t>Azione di Test</a:t>
                      </a:r>
                      <a:endParaRPr>
                        <a:solidFill>
                          <a:srgbClr val="38BDF8"/>
                        </a:solidFill>
                        <a:latin typeface="Space Grotesk SemiBold"/>
                        <a:ea typeface="Space Grotesk SemiBold"/>
                        <a:cs typeface="Space Grotesk SemiBold"/>
                        <a:sym typeface="Space Grotesk SemiBold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>
                          <a:solidFill>
                            <a:srgbClr val="38BDF8"/>
                          </a:solidFill>
                          <a:latin typeface="Space Grotesk SemiBold"/>
                          <a:ea typeface="Space Grotesk SemiBold"/>
                          <a:cs typeface="Space Grotesk SemiBold"/>
                          <a:sym typeface="Space Grotesk SemiBold"/>
                        </a:rPr>
                        <a:t>Risultato Atteso/Validazione</a:t>
                      </a:r>
                      <a:endParaRPr>
                        <a:solidFill>
                          <a:srgbClr val="38BDF8"/>
                        </a:solidFill>
                        <a:latin typeface="Space Grotesk SemiBold"/>
                        <a:ea typeface="Space Grotesk SemiBold"/>
                        <a:cs typeface="Space Grotesk SemiBold"/>
                        <a:sym typeface="Space Grotesk SemiBold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724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>
                          <a:latin typeface="Inter"/>
                          <a:ea typeface="Inter"/>
                          <a:cs typeface="Inter"/>
                          <a:sym typeface="Inter"/>
                        </a:rPr>
                        <a:t>Test Funzionale</a:t>
                      </a:r>
                      <a:endParaRPr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0EA5E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EA5E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EA5E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>
                          <a:latin typeface="Inter"/>
                          <a:ea typeface="Inter"/>
                          <a:cs typeface="Inter"/>
                          <a:sym typeface="Inter"/>
                        </a:rPr>
                        <a:t>Funzionale CoAP</a:t>
                      </a:r>
                      <a:endParaRPr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0EA5E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EA5E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EA5E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>
                          <a:latin typeface="Inter"/>
                          <a:ea typeface="Inter"/>
                          <a:cs typeface="Inter"/>
                          <a:sym typeface="Inter"/>
                        </a:rPr>
                        <a:t>Richiesta di load a stiva piena</a:t>
                      </a:r>
                      <a:endParaRPr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0EA5E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EA5E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EA5E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>
                          <a:latin typeface="Inter"/>
                          <a:ea typeface="Inter"/>
                          <a:cs typeface="Inter"/>
                          <a:sym typeface="Inter"/>
                        </a:rPr>
                        <a:t>Risposta immediata di errore CoAP: il robot rimane immobile in Home</a:t>
                      </a:r>
                      <a:endParaRPr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0EA5E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EA5E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EA5E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724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US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JUnit Test 2</a:t>
                      </a:r>
                      <a:endParaRPr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0EA5E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EA5E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EA5E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EA5E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>
                          <a:latin typeface="Inter"/>
                          <a:ea typeface="Inter"/>
                          <a:cs typeface="Inter"/>
                          <a:sym typeface="Inter"/>
                        </a:rPr>
                        <a:t>Integrazione Logica</a:t>
                      </a:r>
                      <a:endParaRPr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0EA5E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EA5E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EA5E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EA5E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>
                          <a:latin typeface="Inter"/>
                          <a:ea typeface="Inter"/>
                          <a:cs typeface="Inter"/>
                          <a:sym typeface="Inter"/>
                        </a:rPr>
                        <a:t>Carico di container su stiva vuota</a:t>
                      </a:r>
                      <a:endParaRPr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0EA5E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EA5E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EA5E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EA5E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>
                          <a:latin typeface="Inter"/>
                          <a:ea typeface="Inter"/>
                          <a:cs typeface="Inter"/>
                          <a:sym typeface="Inter"/>
                        </a:rPr>
                        <a:t>Transito completo delle aree del robot e riserva dello slot logico 1</a:t>
                      </a:r>
                      <a:endParaRPr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0EA5E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EA5E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EA5E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EA5E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724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US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JUnit Test 3</a:t>
                      </a:r>
                      <a:endParaRPr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0EA5E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EA5E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EA5E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EA5E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>
                          <a:latin typeface="Inter"/>
                          <a:ea typeface="Inter"/>
                          <a:cs typeface="Inter"/>
                          <a:sym typeface="Inter"/>
                        </a:rPr>
                        <a:t>Sicurezza Sonar</a:t>
                      </a:r>
                      <a:endParaRPr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0EA5E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EA5E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EA5E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EA5E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>
                          <a:latin typeface="Inter"/>
                          <a:ea typeface="Inter"/>
                          <a:cs typeface="Inter"/>
                          <a:sym typeface="Inter"/>
                        </a:rPr>
                        <a:t>Simulazione distanza di allarme su mock</a:t>
                      </a:r>
                      <a:endParaRPr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0EA5E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EA5E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EA5E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EA5E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>
                          <a:latin typeface="Inter"/>
                          <a:ea typeface="Inter"/>
                          <a:cs typeface="Inter"/>
                          <a:sym typeface="Inter"/>
                        </a:rPr>
                        <a:t>Emissione di alarm, transizione di blocco e ripresa automatica del robot</a:t>
                      </a:r>
                      <a:endParaRPr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0EA5E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EA5E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EA5E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EA5E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724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>
                          <a:latin typeface="Inter"/>
                          <a:ea typeface="Inter"/>
                          <a:cs typeface="Inter"/>
                          <a:sym typeface="Inter"/>
                        </a:rPr>
                        <a:t>Hardware Test 1</a:t>
                      </a:r>
                      <a:endParaRPr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0EA5E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EA5E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EA5E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EA5E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>
                          <a:latin typeface="Inter"/>
                          <a:ea typeface="Inter"/>
                          <a:cs typeface="Inter"/>
                          <a:sym typeface="Inter"/>
                        </a:rPr>
                        <a:t>Interazione HW Reale</a:t>
                      </a:r>
                      <a:endParaRPr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0EA5E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EA5E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EA5E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EA5E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>
                          <a:latin typeface="Inter"/>
                          <a:ea typeface="Inter"/>
                          <a:cs typeface="Inter"/>
                          <a:sym typeface="Inter"/>
                        </a:rPr>
                        <a:t>Interruzione del sonar reale HC-SR04</a:t>
                      </a:r>
                      <a:endParaRPr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0EA5E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EA5E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EA5E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EA5E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>
                          <a:latin typeface="Inter"/>
                          <a:ea typeface="Inter"/>
                          <a:cs typeface="Inter"/>
                          <a:sym typeface="Inter"/>
                        </a:rPr>
                        <a:t>Arresto istantaneo nel simulatore 3D e accensione del LED rosso fisico</a:t>
                      </a:r>
                      <a:endParaRPr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0EA5E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EA5E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EA5E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EA5E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8" name="Google Shape;248;p21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324975" y="-466725"/>
            <a:ext cx="3333750" cy="33337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9" name="Google Shape;249;p21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-466725" y="4467225"/>
            <a:ext cx="3333750" cy="3333750"/>
          </a:xfrm>
          <a:prstGeom prst="rect">
            <a:avLst/>
          </a:prstGeom>
          <a:noFill/>
          <a:ln>
            <a:noFill/>
          </a:ln>
        </p:spPr>
      </p:pic>
      <p:sp>
        <p:nvSpPr>
          <p:cNvPr id="250" name="Google Shape;250;p21"/>
          <p:cNvSpPr txBox="1"/>
          <p:nvPr/>
        </p:nvSpPr>
        <p:spPr>
          <a:xfrm>
            <a:off x="1595412" y="3013354"/>
            <a:ext cx="9001200" cy="83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400" b="1">
                <a:solidFill>
                  <a:srgbClr val="F8FAFC"/>
                </a:solidFill>
                <a:latin typeface="Space Grotesk"/>
                <a:ea typeface="Space Grotesk"/>
                <a:cs typeface="Space Grotesk"/>
                <a:sym typeface="Space Grotesk"/>
              </a:rPr>
              <a:t>Grazie per l’attenzione</a:t>
            </a:r>
            <a:endParaRPr/>
          </a:p>
        </p:txBody>
      </p:sp>
      <p:sp>
        <p:nvSpPr>
          <p:cNvPr id="251" name="Google Shape;251;p21"/>
          <p:cNvSpPr txBox="1"/>
          <p:nvPr/>
        </p:nvSpPr>
        <p:spPr>
          <a:xfrm>
            <a:off x="1809750" y="3917479"/>
            <a:ext cx="8572500" cy="2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38BDF8"/>
                </a:solidFill>
                <a:latin typeface="Inter"/>
                <a:ea typeface="Inter"/>
                <a:cs typeface="Inter"/>
                <a:sym typeface="Inter"/>
              </a:rPr>
              <a:t>Sistema cargoservice - Fine Presentazione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1665</Words>
  <Application>Microsoft Office PowerPoint</Application>
  <PresentationFormat>Widescreen</PresentationFormat>
  <Paragraphs>197</Paragraphs>
  <Slides>9</Slides>
  <Notes>9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9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9</vt:i4>
      </vt:variant>
    </vt:vector>
  </HeadingPairs>
  <TitlesOfParts>
    <vt:vector size="19" baseType="lpstr">
      <vt:lpstr>Inter</vt:lpstr>
      <vt:lpstr>Inter SemiBold</vt:lpstr>
      <vt:lpstr>Space Grotesk Medium</vt:lpstr>
      <vt:lpstr>Courier New</vt:lpstr>
      <vt:lpstr>Space Grotesk</vt:lpstr>
      <vt:lpstr>Inter Medium</vt:lpstr>
      <vt:lpstr>Arial</vt:lpstr>
      <vt:lpstr>Space Grotesk SemiBold</vt:lpstr>
      <vt:lpstr>Calibri</vt:lpstr>
      <vt:lpstr>Office Theme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Luigi Lauriola - luigi.lauriola2@studio.unibo.it</cp:lastModifiedBy>
  <cp:revision>2</cp:revision>
  <dcterms:modified xsi:type="dcterms:W3CDTF">2026-07-22T09:36:02Z</dcterms:modified>
</cp:coreProperties>
</file>