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y="6858000" cx="12192000"/>
  <p:notesSz cx="6858000" cy="9144000"/>
  <p:embeddedFontLst>
    <p:embeddedFont>
      <p:font typeface="Inter SemiBold"/>
      <p:regular r:id="rId16"/>
      <p:bold r:id="rId17"/>
      <p:italic r:id="rId18"/>
      <p:boldItalic r:id="rId19"/>
    </p:embeddedFont>
    <p:embeddedFont>
      <p:font typeface="Inter"/>
      <p:regular r:id="rId20"/>
      <p:bold r:id="rId21"/>
      <p:italic r:id="rId22"/>
      <p:boldItalic r:id="rId23"/>
    </p:embeddedFont>
    <p:embeddedFont>
      <p:font typeface="Space Grotesk Medium"/>
      <p:regular r:id="rId24"/>
      <p:bold r:id="rId25"/>
    </p:embeddedFont>
    <p:embeddedFont>
      <p:font typeface="Space Grotesk SemiBold"/>
      <p:regular r:id="rId26"/>
      <p:bold r:id="rId27"/>
    </p:embeddedFont>
    <p:embeddedFont>
      <p:font typeface="Inter Medium"/>
      <p:regular r:id="rId28"/>
      <p:bold r:id="rId29"/>
      <p:italic r:id="rId30"/>
      <p:boldItalic r:id="rId31"/>
    </p:embeddedFont>
    <p:embeddedFont>
      <p:font typeface="Space Grotesk"/>
      <p:regular r:id="rId32"/>
      <p:bold r:id="rId3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05AD940E-B47E-4D0C-9D39-0C98CCD1D847}">
  <a:tblStyle styleId="{05AD940E-B47E-4D0C-9D39-0C98CCD1D84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-regular.fntdata"/><Relationship Id="rId22" Type="http://schemas.openxmlformats.org/officeDocument/2006/relationships/font" Target="fonts/Inter-italic.fntdata"/><Relationship Id="rId21" Type="http://schemas.openxmlformats.org/officeDocument/2006/relationships/font" Target="fonts/Inter-bold.fntdata"/><Relationship Id="rId24" Type="http://schemas.openxmlformats.org/officeDocument/2006/relationships/font" Target="fonts/SpaceGroteskMedium-regular.fntdata"/><Relationship Id="rId23" Type="http://schemas.openxmlformats.org/officeDocument/2006/relationships/font" Target="fonts/Inter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SpaceGroteskSemiBold-regular.fntdata"/><Relationship Id="rId25" Type="http://schemas.openxmlformats.org/officeDocument/2006/relationships/font" Target="fonts/SpaceGroteskMedium-bold.fntdata"/><Relationship Id="rId28" Type="http://schemas.openxmlformats.org/officeDocument/2006/relationships/font" Target="fonts/InterMedium-regular.fntdata"/><Relationship Id="rId27" Type="http://schemas.openxmlformats.org/officeDocument/2006/relationships/font" Target="fonts/SpaceGroteskSemiBold-bold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Medium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InterMedium-boldItalic.fntdata"/><Relationship Id="rId30" Type="http://schemas.openxmlformats.org/officeDocument/2006/relationships/font" Target="fonts/InterMedium-italic.fntdata"/><Relationship Id="rId11" Type="http://schemas.openxmlformats.org/officeDocument/2006/relationships/slide" Target="slides/slide5.xml"/><Relationship Id="rId33" Type="http://schemas.openxmlformats.org/officeDocument/2006/relationships/font" Target="fonts/SpaceGrotesk-bold.fntdata"/><Relationship Id="rId10" Type="http://schemas.openxmlformats.org/officeDocument/2006/relationships/slide" Target="slides/slide4.xml"/><Relationship Id="rId32" Type="http://schemas.openxmlformats.org/officeDocument/2006/relationships/font" Target="fonts/SpaceGrotesk-regular.fntdata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InterSemiBold-bold.fntdata"/><Relationship Id="rId16" Type="http://schemas.openxmlformats.org/officeDocument/2006/relationships/font" Target="fonts/InterSemiBold-regular.fntdata"/><Relationship Id="rId19" Type="http://schemas.openxmlformats.org/officeDocument/2006/relationships/font" Target="fonts/InterSemiBold-boldItalic.fntdata"/><Relationship Id="rId18" Type="http://schemas.openxmlformats.org/officeDocument/2006/relationships/font" Target="fonts/InterSemiBold-italic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557e0ab7b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Buongiorno a tutti.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 progetto consiste in un sistema distribuito e IoT per l'automazione del carico di una stiva.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Lo scopo dell'architettura è orchestrare, in sicurezza e in tempo reale, un robot mobile autonomo facendolo interagire con dispositivi esterni.</a:t>
            </a:r>
            <a:endParaRPr/>
          </a:p>
        </p:txBody>
      </p:sp>
      <p:sp>
        <p:nvSpPr>
          <p:cNvPr id="82" name="Google Shape;82;g3f557e0ab7b_0_2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557e0ab7b_0_1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Per gestire la complessità, abbiamo adottato uno sviluppo ad incrementi diviso in quattro fasi: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Sprint 0: Analisi dei requisiti e costruzione di un primo modello formale eseguibile in linguaggio Qak.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Sprint 1: Sviluppo dell'architettura logica centrale e superamento del gap cartesiano per il movimento del robot.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Sprint 2: Distribuzione di rete del sistema, tramite protocolli CoAP, HTTP e MQTT, introducendo sensori e LED simulati.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Sprint 3: Passaggio finale all'hardware fisico, sostituendo i simulatori con un Raspberry Pi Pico W collegato a un vero Sonar e a un LED.</a:t>
            </a:r>
            <a:endParaRPr/>
          </a:p>
        </p:txBody>
      </p:sp>
      <p:sp>
        <p:nvSpPr>
          <p:cNvPr id="98" name="Google Shape;98;g3f557e0ab7b_0_11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557e0ab7b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 questa fase siamo passati dall'analisi alla modellazione dell'architettura.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Innanzitutto, abbiamo definito un vocabolario e dei vincoli formali.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Questo passaggio è stato fondamentale per garantirci una rigorosa tracciabilità bidirezionale tra i requisiti testuali forniti dal committente e gli eventi reali del sistema.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livello architetturale, abbiamo modellato il sistema distribuendolo su diversi nodi: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Abbiamo due Contesti Qak Centrali: uno dedicato all'orchestratore logico e uno remoto per la pianificazione del movimento del robot.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E due Nodi Esterni eterogenei: un'interfaccia web per l'utente (che comunica via HTTP e CoAP) e un nodo IoT fisico remoto per Sonar e LED, integrato tramite broker MQTT.</a:t>
            </a:r>
            <a:endParaRPr/>
          </a:p>
        </p:txBody>
      </p:sp>
      <p:sp>
        <p:nvSpPr>
          <p:cNvPr id="122" name="Google Shape;122;g3f557e0ab7b_0_21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f557e0ab7b_0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Entrando nel dettaglio dell'Architettura Logica, abbiamo applicato il principio di </a:t>
            </a:r>
            <a:r>
              <a:rPr b="1" lang="en-US"/>
              <a:t>separazione delle responsabilità</a:t>
            </a:r>
            <a:r>
              <a:rPr lang="en-US"/>
              <a:t>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Da un lato c'è </a:t>
            </a:r>
            <a:r>
              <a:rPr b="1" lang="en-US"/>
              <a:t>l'Orchestratore</a:t>
            </a:r>
            <a:r>
              <a:rPr lang="en-US"/>
              <a:t>, che ragiona esclusivamente ad alto livello: prenota gli slot logici e gestisce gli stati della stiva.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Dall'altro lato abbiamo isolato il </a:t>
            </a:r>
            <a:r>
              <a:rPr b="1" lang="en-US"/>
              <a:t>Driver Robot</a:t>
            </a:r>
            <a:r>
              <a:rPr lang="en-US"/>
              <a:t>, il cui compito è risolvere il </a:t>
            </a:r>
            <a:r>
              <a:rPr b="1" lang="en-US"/>
              <a:t>gap cartesiano</a:t>
            </a:r>
            <a:r>
              <a:rPr lang="en-US"/>
              <a:t>: prende le mete semantiche (come 'ioport') e le traduce in coordinate geometriche X-Y, comunicando con l'orchestratore in modo asincrono tramite pattern Request-Reply</a:t>
            </a:r>
            <a:endParaRPr/>
          </a:p>
        </p:txBody>
      </p:sp>
      <p:sp>
        <p:nvSpPr>
          <p:cNvPr id="151" name="Google Shape;151;g3f557e0ab7b_0_24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f557e0ab7b_0_2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Passando al deployment, l</a:t>
            </a:r>
            <a:r>
              <a:rPr b="1" lang="en-US"/>
              <a:t>'Architettura Fisica</a:t>
            </a:r>
            <a:r>
              <a:rPr lang="en-US"/>
              <a:t> è totalmente distribuita.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 core gira su una JVM che ospita il </a:t>
            </a:r>
            <a:r>
              <a:rPr i="1" lang="en-US"/>
              <a:t>backend </a:t>
            </a:r>
            <a:r>
              <a:rPr lang="en-US"/>
              <a:t>e il </a:t>
            </a:r>
            <a:r>
              <a:rPr i="1" lang="en-US"/>
              <a:t>Web Server</a:t>
            </a:r>
            <a:r>
              <a:rPr lang="en-US"/>
              <a:t>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L'interfaccia utente si aggiorna tramite</a:t>
            </a:r>
            <a:r>
              <a:rPr i="1" lang="en-US"/>
              <a:t> HTTP Polling</a:t>
            </a:r>
            <a:r>
              <a:rPr lang="en-US"/>
              <a:t>, mentre il server recupera lo stato interno dell'orchestratore sfruttando il protocollo </a:t>
            </a:r>
            <a:r>
              <a:rPr b="1" lang="en-US"/>
              <a:t>CoAP</a:t>
            </a:r>
            <a:r>
              <a:rPr lang="en-US"/>
              <a:t>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 Broker MQTT e il simulatore 3D sono isolati all'interno di container </a:t>
            </a:r>
            <a:r>
              <a:rPr b="1" lang="en-US"/>
              <a:t>Docker</a:t>
            </a:r>
            <a:r>
              <a:rPr lang="en-US"/>
              <a:t>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Infine, per interagire con i sensori fisici, abbiamo creato un </a:t>
            </a:r>
            <a:r>
              <a:rPr b="1" lang="en-US"/>
              <a:t>Adapter Bridge MQTT</a:t>
            </a:r>
            <a:r>
              <a:rPr lang="en-US"/>
              <a:t> che disaccoppia la logica di alto livello dai protocolli hardware, traducendo i payload MQTT in eventi nativi Qak per il Sonar e il LED.</a:t>
            </a:r>
            <a:endParaRPr/>
          </a:p>
        </p:txBody>
      </p:sp>
      <p:sp>
        <p:nvSpPr>
          <p:cNvPr id="176" name="Google Shape;176;g3f557e0ab7b_0_268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 vero banco di prova è stata l</a:t>
            </a:r>
            <a:r>
              <a:rPr b="1" lang="en-US"/>
              <a:t>'Integrazione Hardware finale</a:t>
            </a:r>
            <a:r>
              <a:rPr lang="en-US"/>
              <a:t>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Grazie al disaccoppiamento basato su MQTT, il passaggio dal simulatore al dispositivo fisico è avvenuto senza dover toccare una singola riga di codice dell'orchestratore.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Sul Raspberry Pi abbiamo scritto codice MicroPython puramente asincrono sfruttando </a:t>
            </a:r>
            <a:r>
              <a:rPr b="1" i="1" lang="en-US"/>
              <a:t>uasyncio</a:t>
            </a:r>
            <a:r>
              <a:rPr lang="en-US"/>
              <a:t>: questo ci permette di gestire in modo concorrente e non bloccante la lettura del Sonar, il lampeggio del LED e la ricezione di rete.</a:t>
            </a:r>
            <a:endParaRPr/>
          </a:p>
        </p:txBody>
      </p:sp>
      <p:sp>
        <p:nvSpPr>
          <p:cNvPr id="201" name="Google Shape;20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Per la sicurezza, abbiamo implementato un protocollo di allarme robusto.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 il Sonar rileva un'anomalia (superando la soglia DFREE per un timeout di 3 secondi), il sistema solleva un evento di allarme, bloccando istantaneamente il robot e accendendo il LED fisso.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Il vero punto di forza è il </a:t>
            </a:r>
            <a:r>
              <a:rPr b="1" lang="en-US"/>
              <a:t>Ripristino Automatico</a:t>
            </a:r>
            <a:r>
              <a:rPr lang="en-US"/>
              <a:t>: appena l'ostacolo viene rimosso, il robot non riparte da zero, ma recupera la sua variabile di stato interna (</a:t>
            </a:r>
            <a:r>
              <a:rPr b="1" i="1" lang="en-US"/>
              <a:t>CurrentDest</a:t>
            </a:r>
            <a:r>
              <a:rPr lang="en-US"/>
              <a:t>) e riprende esattamente il tragitto interrotto</a:t>
            </a:r>
            <a:endParaRPr/>
          </a:p>
        </p:txBody>
      </p:sp>
      <p:sp>
        <p:nvSpPr>
          <p:cNvPr id="212" name="Google Shape;212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Infine, la validazione.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L'affidabilità è garantita da una suite di test multilivello. Abbiamo automatizzato l'Integrazione Logica e la Sicurezza tramite test JUnit, simulando l'arrivo dei container e la caduta del Sonar.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questi abbiamo affiancato Test Funzionali end-to-end via CoAP e Hardware Test reali, dove abbiamo dimostrato con successo la perfetta sincronia cyber-fisica: infatti mettendo una mano davanti al Sonar reale, il robot nel simulatore 3D si arresta istantaneamente.</a:t>
            </a:r>
            <a:endParaRPr/>
          </a:p>
        </p:txBody>
      </p:sp>
      <p:sp>
        <p:nvSpPr>
          <p:cNvPr id="240" name="Google Shape;24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transition spd="med">
    <p:fade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9" Type="http://schemas.openxmlformats.org/officeDocument/2006/relationships/image" Target="../media/image1.png"/><Relationship Id="rId5" Type="http://schemas.openxmlformats.org/officeDocument/2006/relationships/image" Target="../media/image9.png"/><Relationship Id="rId6" Type="http://schemas.openxmlformats.org/officeDocument/2006/relationships/image" Target="../media/image2.png"/><Relationship Id="rId7" Type="http://schemas.openxmlformats.org/officeDocument/2006/relationships/image" Target="../media/image5.png"/><Relationship Id="rId8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11" Type="http://schemas.openxmlformats.org/officeDocument/2006/relationships/image" Target="../media/image12.png"/><Relationship Id="rId10" Type="http://schemas.openxmlformats.org/officeDocument/2006/relationships/image" Target="../media/image32.png"/><Relationship Id="rId9" Type="http://schemas.openxmlformats.org/officeDocument/2006/relationships/image" Target="../media/image10.png"/><Relationship Id="rId5" Type="http://schemas.openxmlformats.org/officeDocument/2006/relationships/image" Target="../media/image6.png"/><Relationship Id="rId6" Type="http://schemas.openxmlformats.org/officeDocument/2006/relationships/image" Target="../media/image20.png"/><Relationship Id="rId7" Type="http://schemas.openxmlformats.org/officeDocument/2006/relationships/image" Target="../media/image8.png"/><Relationship Id="rId8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9" Type="http://schemas.openxmlformats.org/officeDocument/2006/relationships/image" Target="../media/image16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24.png"/><Relationship Id="rId8" Type="http://schemas.openxmlformats.org/officeDocument/2006/relationships/image" Target="../media/image1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13.png"/><Relationship Id="rId6" Type="http://schemas.openxmlformats.org/officeDocument/2006/relationships/image" Target="../media/image19.png"/><Relationship Id="rId7" Type="http://schemas.openxmlformats.org/officeDocument/2006/relationships/image" Target="../media/image22.png"/><Relationship Id="rId8" Type="http://schemas.openxmlformats.org/officeDocument/2006/relationships/image" Target="../media/image2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26.png"/><Relationship Id="rId8" Type="http://schemas.openxmlformats.org/officeDocument/2006/relationships/image" Target="../media/image2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2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9.png"/><Relationship Id="rId5" Type="http://schemas.openxmlformats.org/officeDocument/2006/relationships/image" Target="../media/image13.png"/><Relationship Id="rId6" Type="http://schemas.openxmlformats.org/officeDocument/2006/relationships/image" Target="../media/image17.png"/><Relationship Id="rId7" Type="http://schemas.openxmlformats.org/officeDocument/2006/relationships/image" Target="../media/image30.png"/><Relationship Id="rId8" Type="http://schemas.openxmlformats.org/officeDocument/2006/relationships/image" Target="../media/image2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" name="Google Shape;84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5" name="Google Shape;85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6" name="Google Shape;86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7" name="Google Shape;87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809750" y="4598937"/>
            <a:ext cx="8572500" cy="46196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88" name="Google Shape;88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838700" y="1796950"/>
            <a:ext cx="2514600" cy="36195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3"/>
          <p:cNvSpPr txBox="1"/>
          <p:nvPr/>
        </p:nvSpPr>
        <p:spPr>
          <a:xfrm>
            <a:off x="1595437" y="2301775"/>
            <a:ext cx="9001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Sistema </a:t>
            </a:r>
            <a:r>
              <a:rPr b="1" i="0" lang="en-US" sz="4800" u="none" cap="none" strike="noStrike">
                <a:solidFill>
                  <a:srgbClr val="0EA5E9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cargoservice</a:t>
            </a:r>
            <a:endParaRPr/>
          </a:p>
        </p:txBody>
      </p:sp>
      <p:sp>
        <p:nvSpPr>
          <p:cNvPr id="90" name="Google Shape;90;p13"/>
          <p:cNvSpPr txBox="1"/>
          <p:nvPr/>
        </p:nvSpPr>
        <p:spPr>
          <a:xfrm>
            <a:off x="1595437" y="3067496"/>
            <a:ext cx="9001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8BDF8"/>
                </a:solidFill>
                <a:latin typeface="Space Grotesk Medium"/>
                <a:ea typeface="Space Grotesk Medium"/>
                <a:cs typeface="Space Grotesk Medium"/>
                <a:sym typeface="Space Grotesk Medium"/>
              </a:rPr>
              <a:t>Automazione del Carico Stiva</a:t>
            </a:r>
            <a:endParaRPr/>
          </a:p>
        </p:txBody>
      </p:sp>
      <p:sp>
        <p:nvSpPr>
          <p:cNvPr id="91" name="Google Shape;91;p13"/>
          <p:cNvSpPr txBox="1"/>
          <p:nvPr/>
        </p:nvSpPr>
        <p:spPr>
          <a:xfrm>
            <a:off x="1809750" y="3686621"/>
            <a:ext cx="8572500" cy="57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25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Un sistema software eterogeneo e orchestrato per il trasporto in sicurezza di container tramite un robot mobile autonomo controllato in tempo reale.</a:t>
            </a:r>
            <a:endParaRPr/>
          </a:p>
        </p:txBody>
      </p:sp>
      <p:sp>
        <p:nvSpPr>
          <p:cNvPr id="92" name="Google Shape;92;p13"/>
          <p:cNvSpPr txBox="1"/>
          <p:nvPr/>
        </p:nvSpPr>
        <p:spPr>
          <a:xfrm>
            <a:off x="2924175" y="4846587"/>
            <a:ext cx="28194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57175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25" u="none" cap="none" strike="noStrike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componenti:</a:t>
            </a:r>
            <a:r>
              <a:rPr lang="en-US" sz="1125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 </a:t>
            </a:r>
            <a:r>
              <a:rPr lang="en-US" sz="1125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Carini, </a:t>
            </a:r>
            <a:r>
              <a:rPr lang="en-US" sz="1125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Lauriola</a:t>
            </a:r>
            <a:r>
              <a:rPr b="0" i="0" lang="en-US" sz="1125" u="none" cap="none" strike="noStrike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, </a:t>
            </a:r>
            <a:r>
              <a:rPr lang="en-US" sz="1125">
                <a:solidFill>
                  <a:srgbClr val="94A3B8"/>
                </a:solidFill>
                <a:latin typeface="Space Grotesk"/>
                <a:ea typeface="Space Grotesk"/>
                <a:cs typeface="Space Grotesk"/>
                <a:sym typeface="Space Grotesk"/>
              </a:rPr>
              <a:t>Pipola</a:t>
            </a:r>
            <a:endParaRPr/>
          </a:p>
        </p:txBody>
      </p:sp>
      <p:sp>
        <p:nvSpPr>
          <p:cNvPr id="93" name="Google Shape;93;p13"/>
          <p:cNvSpPr txBox="1"/>
          <p:nvPr/>
        </p:nvSpPr>
        <p:spPr>
          <a:xfrm>
            <a:off x="6124575" y="4846587"/>
            <a:ext cx="31434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ctr">
              <a:lnSpc>
                <a:spcPct val="14995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github.com/riccardocar99/cargoservice-</a:t>
            </a:r>
            <a:endParaRPr sz="105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descr="image.png" id="94" name="Google Shape;94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924175" y="4875162"/>
            <a:ext cx="18097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95" name="Google Shape;95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124575" y="4875162"/>
            <a:ext cx="142875" cy="14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00" name="Google Shape;10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1" name="Google Shape;101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2" name="Google Shape;102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3122414"/>
            <a:ext cx="11029950" cy="381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03" name="Google Shape;103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611213" y="2884289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517605" y="3598664"/>
            <a:ext cx="266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Sprint 0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676275" y="3979664"/>
            <a:ext cx="2346300" cy="6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Analisi Requisiti:</a:t>
            </a: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Vocabolario formale dei vincoli e modello formale Qak iniziale.</a:t>
            </a:r>
            <a:endParaRPr/>
          </a:p>
        </p:txBody>
      </p:sp>
      <p:pic>
        <p:nvPicPr>
          <p:cNvPr descr="image.png" id="106" name="Google Shape;106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442221" y="2884289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4"/>
          <p:cNvSpPr txBox="1"/>
          <p:nvPr/>
        </p:nvSpPr>
        <p:spPr>
          <a:xfrm>
            <a:off x="3348614" y="3598664"/>
            <a:ext cx="266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Sprint 1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3507283" y="3979664"/>
            <a:ext cx="2346300" cy="6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Architettura Logica:</a:t>
            </a: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Core logic (cargoservice), superamento del gap cartesiano e test JUnit.</a:t>
            </a:r>
            <a:endParaRPr/>
          </a:p>
        </p:txBody>
      </p:sp>
      <p:pic>
        <p:nvPicPr>
          <p:cNvPr descr="image.png" id="109" name="Google Shape;109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273230" y="2884289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4"/>
          <p:cNvSpPr txBox="1"/>
          <p:nvPr/>
        </p:nvSpPr>
        <p:spPr>
          <a:xfrm>
            <a:off x="6179622" y="3598664"/>
            <a:ext cx="266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F8FAFC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Sprint 2</a:t>
            </a:r>
            <a:endParaRPr/>
          </a:p>
        </p:txBody>
      </p:sp>
      <p:sp>
        <p:nvSpPr>
          <p:cNvPr id="111" name="Google Shape;111;p14"/>
          <p:cNvSpPr txBox="1"/>
          <p:nvPr/>
        </p:nvSpPr>
        <p:spPr>
          <a:xfrm>
            <a:off x="6338292" y="3979664"/>
            <a:ext cx="2346300" cy="61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Distribuzione Rete:</a:t>
            </a: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Integrazione web server CoAP/HTTP per IOPort e simulazione sonar/led via MQTT.</a:t>
            </a:r>
            <a:endParaRPr/>
          </a:p>
        </p:txBody>
      </p:sp>
      <p:pic>
        <p:nvPicPr>
          <p:cNvPr descr="image.png" id="112" name="Google Shape;112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10104239" y="2884289"/>
            <a:ext cx="476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 txBox="1"/>
          <p:nvPr/>
        </p:nvSpPr>
        <p:spPr>
          <a:xfrm>
            <a:off x="9010631" y="3598664"/>
            <a:ext cx="26637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4D399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Sprint 3</a:t>
            </a:r>
            <a:endParaRPr/>
          </a:p>
        </p:txBody>
      </p:sp>
      <p:sp>
        <p:nvSpPr>
          <p:cNvPr id="114" name="Google Shape;114;p14"/>
          <p:cNvSpPr txBox="1"/>
          <p:nvPr/>
        </p:nvSpPr>
        <p:spPr>
          <a:xfrm>
            <a:off x="9169300" y="3979664"/>
            <a:ext cx="2346300" cy="84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5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Hardware Reale:</a:t>
            </a:r>
            <a:r>
              <a:rPr b="0" i="0" lang="en-US" sz="105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Integrazione della scheda fisica Raspberry Pi Pico W con sensore sonar HC-SR04 e LED reali.</a:t>
            </a:r>
            <a:endParaRPr/>
          </a:p>
        </p:txBody>
      </p:sp>
      <p:pic>
        <p:nvPicPr>
          <p:cNvPr descr="image.png" id="115" name="Google Shape;115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782663" y="3046214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6" name="Google Shape;116;p1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4613671" y="3046214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7" name="Google Shape;117;p1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7444680" y="3046214"/>
            <a:ext cx="133350" cy="1524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18" name="Google Shape;118;p1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10275689" y="3046214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14"/>
          <p:cNvSpPr txBox="1"/>
          <p:nvPr/>
        </p:nvSpPr>
        <p:spPr>
          <a:xfrm>
            <a:off x="581025" y="4857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Processo di Sviluppo ad Incrementi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24" name="Google Shape;124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5" name="Google Shape;125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6" name="Google Shape;126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27" name="Google Shape;127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2687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>
            <a:off x="1238250" y="2709862"/>
            <a:ext cx="456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Vocabolario e Vincoli</a:t>
            </a:r>
            <a:endParaRPr/>
          </a:p>
        </p:txBody>
      </p:sp>
      <p:sp>
        <p:nvSpPr>
          <p:cNvPr id="129" name="Google Shape;129;p15"/>
          <p:cNvSpPr txBox="1"/>
          <p:nvPr/>
        </p:nvSpPr>
        <p:spPr>
          <a:xfrm>
            <a:off x="7005637" y="2105025"/>
            <a:ext cx="447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Contesti Qak Centrali</a:t>
            </a:r>
            <a:endParaRPr/>
          </a:p>
        </p:txBody>
      </p:sp>
      <p:sp>
        <p:nvSpPr>
          <p:cNvPr id="130" name="Google Shape;130;p15"/>
          <p:cNvSpPr txBox="1"/>
          <p:nvPr/>
        </p:nvSpPr>
        <p:spPr>
          <a:xfrm>
            <a:off x="6948487" y="3895725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Nodi ed Interfacce Esterne</a:t>
            </a:r>
            <a:endParaRPr/>
          </a:p>
        </p:txBody>
      </p:sp>
      <p:pic>
        <p:nvPicPr>
          <p:cNvPr descr="image.png" id="131" name="Google Shape;131;p1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3925" y="2743200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5"/>
          <p:cNvSpPr txBox="1"/>
          <p:nvPr/>
        </p:nvSpPr>
        <p:spPr>
          <a:xfrm>
            <a:off x="1162050" y="31194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Mappatura formale di </a:t>
            </a: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"stiva piena"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</a:t>
            </a: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"fuori servizio"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 </a:t>
            </a: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"presenza container"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1162050" y="36909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Definizione dei vincoli fisici e delle distanze critiche del sonar (soglia DFREE).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1162050" y="4271962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Garantita tracciabilità bidirezionale tra requisiti testuali ed eventi del sistema.</a:t>
            </a:r>
            <a:endParaRPr/>
          </a:p>
        </p:txBody>
      </p:sp>
      <p:pic>
        <p:nvPicPr>
          <p:cNvPr descr="image.png" id="135" name="Google Shape;135;p15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2138362"/>
            <a:ext cx="28575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5"/>
          <p:cNvSpPr txBox="1"/>
          <p:nvPr/>
        </p:nvSpPr>
        <p:spPr>
          <a:xfrm>
            <a:off x="6843712" y="25146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ctx_cargoservice: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Contesto logico di controllo centrale (orchestratore, driver robot e proxy).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6843712" y="30861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ctxrobotsmart: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Contesto remoto per la gestione del movimento (pianificatore).</a:t>
            </a:r>
            <a:endParaRPr/>
          </a:p>
        </p:txBody>
      </p:sp>
      <p:pic>
        <p:nvPicPr>
          <p:cNvPr descr="image.png" id="138" name="Google Shape;138;p15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605587" y="392906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15"/>
          <p:cNvSpPr txBox="1"/>
          <p:nvPr/>
        </p:nvSpPr>
        <p:spPr>
          <a:xfrm>
            <a:off x="6843712" y="43053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IOPort WebGUI: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Interfaccia utente browser connessa via HTTP/CoAP al server web JVM.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6843712" y="48768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Pico W (Sonar-Led):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Nodo hardware IoT remoto connesso tramite broker MQTT.</a:t>
            </a:r>
            <a:endParaRPr/>
          </a:p>
        </p:txBody>
      </p:sp>
      <p:sp>
        <p:nvSpPr>
          <p:cNvPr id="141" name="Google Shape;141;p15"/>
          <p:cNvSpPr txBox="1"/>
          <p:nvPr/>
        </p:nvSpPr>
        <p:spPr>
          <a:xfrm>
            <a:off x="923925" y="31194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2" name="Google Shape;142;p15"/>
          <p:cNvSpPr txBox="1"/>
          <p:nvPr/>
        </p:nvSpPr>
        <p:spPr>
          <a:xfrm>
            <a:off x="923925" y="36909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923925" y="4271962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4" name="Google Shape;144;p15"/>
          <p:cNvSpPr txBox="1"/>
          <p:nvPr/>
        </p:nvSpPr>
        <p:spPr>
          <a:xfrm>
            <a:off x="6605587" y="25146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5" name="Google Shape;145;p15"/>
          <p:cNvSpPr txBox="1"/>
          <p:nvPr/>
        </p:nvSpPr>
        <p:spPr>
          <a:xfrm>
            <a:off x="6605587" y="30861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6" name="Google Shape;146;p15"/>
          <p:cNvSpPr txBox="1"/>
          <p:nvPr/>
        </p:nvSpPr>
        <p:spPr>
          <a:xfrm>
            <a:off x="6605587" y="43053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7" name="Google Shape;147;p15"/>
          <p:cNvSpPr txBox="1"/>
          <p:nvPr/>
        </p:nvSpPr>
        <p:spPr>
          <a:xfrm>
            <a:off x="6605587" y="48768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48" name="Google Shape;148;p15"/>
          <p:cNvSpPr txBox="1"/>
          <p:nvPr/>
        </p:nvSpPr>
        <p:spPr>
          <a:xfrm>
            <a:off x="581025" y="4857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Dall'Analisi alla Modellazione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53" name="Google Shape;15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4" name="Google Shape;154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5" name="Google Shape;155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56" name="Google Shape;156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2687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 txBox="1"/>
          <p:nvPr/>
        </p:nvSpPr>
        <p:spPr>
          <a:xfrm>
            <a:off x="1266825" y="2828925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Orchestratore (cargoservice)</a:t>
            </a:r>
            <a:endParaRPr/>
          </a:p>
        </p:txBody>
      </p:sp>
      <p:sp>
        <p:nvSpPr>
          <p:cNvPr id="158" name="Google Shape;158;p16"/>
          <p:cNvSpPr txBox="1"/>
          <p:nvPr/>
        </p:nvSpPr>
        <p:spPr>
          <a:xfrm>
            <a:off x="6948487" y="2705100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Driver Robot (cargorobot)</a:t>
            </a:r>
            <a:endParaRPr/>
          </a:p>
        </p:txBody>
      </p:sp>
      <p:pic>
        <p:nvPicPr>
          <p:cNvPr descr="image.png" id="159" name="Google Shape;15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3925" y="286226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16"/>
          <p:cNvSpPr txBox="1"/>
          <p:nvPr/>
        </p:nvSpPr>
        <p:spPr>
          <a:xfrm>
            <a:off x="1162050" y="32385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Possiede la conoscenza dello stato logico della stiva di carico.</a:t>
            </a:r>
            <a:endParaRPr/>
          </a:p>
        </p:txBody>
      </p:sp>
      <p:sp>
        <p:nvSpPr>
          <p:cNvPr id="161" name="Google Shape;161;p16"/>
          <p:cNvSpPr txBox="1"/>
          <p:nvPr/>
        </p:nvSpPr>
        <p:spPr>
          <a:xfrm>
            <a:off x="1162050" y="3810000"/>
            <a:ext cx="4424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Effettua la prenotazione logica degli slot disponibili (1-4).</a:t>
            </a:r>
            <a:endParaRPr/>
          </a:p>
        </p:txBody>
      </p:sp>
      <p:sp>
        <p:nvSpPr>
          <p:cNvPr id="162" name="Google Shape;162;p16"/>
          <p:cNvSpPr txBox="1"/>
          <p:nvPr/>
        </p:nvSpPr>
        <p:spPr>
          <a:xfrm>
            <a:off x="1162050" y="4152900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Gestisce gli stati di alto livello indipendentemente dal motore fisico del robot.</a:t>
            </a:r>
            <a:endParaRPr/>
          </a:p>
        </p:txBody>
      </p:sp>
      <p:pic>
        <p:nvPicPr>
          <p:cNvPr descr="image.png" id="163" name="Google Shape;163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2738437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16"/>
          <p:cNvSpPr txBox="1"/>
          <p:nvPr/>
        </p:nvSpPr>
        <p:spPr>
          <a:xfrm>
            <a:off x="6843712" y="3114675"/>
            <a:ext cx="4424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Risolve il </a:t>
            </a: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gap astrattivo cartesiano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165" name="Google Shape;165;p16"/>
          <p:cNvSpPr txBox="1"/>
          <p:nvPr/>
        </p:nvSpPr>
        <p:spPr>
          <a:xfrm>
            <a:off x="6843712" y="3457575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Traduce le mete semantiche (ioport, slot1, etc.) in coordinate geometriche (X,Y).</a:t>
            </a:r>
            <a:endParaRPr/>
          </a:p>
        </p:txBody>
      </p:sp>
      <p:sp>
        <p:nvSpPr>
          <p:cNvPr id="166" name="Google Shape;166;p16"/>
          <p:cNvSpPr txBox="1"/>
          <p:nvPr/>
        </p:nvSpPr>
        <p:spPr>
          <a:xfrm>
            <a:off x="6843712" y="4048125"/>
            <a:ext cx="4424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Interazione asincrona strutturata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tramite messaggi Qak Request-Reply per attendere il completamento di ogni movimento.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923925" y="32385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68" name="Google Shape;168;p16"/>
          <p:cNvSpPr txBox="1"/>
          <p:nvPr/>
        </p:nvSpPr>
        <p:spPr>
          <a:xfrm>
            <a:off x="923925" y="38100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69" name="Google Shape;169;p16"/>
          <p:cNvSpPr txBox="1"/>
          <p:nvPr/>
        </p:nvSpPr>
        <p:spPr>
          <a:xfrm>
            <a:off x="923925" y="4152900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70" name="Google Shape;170;p16"/>
          <p:cNvSpPr txBox="1"/>
          <p:nvPr/>
        </p:nvSpPr>
        <p:spPr>
          <a:xfrm>
            <a:off x="6605587" y="3114675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71" name="Google Shape;171;p16"/>
          <p:cNvSpPr txBox="1"/>
          <p:nvPr/>
        </p:nvSpPr>
        <p:spPr>
          <a:xfrm>
            <a:off x="6605587" y="3457575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72" name="Google Shape;172;p16"/>
          <p:cNvSpPr txBox="1"/>
          <p:nvPr/>
        </p:nvSpPr>
        <p:spPr>
          <a:xfrm>
            <a:off x="6605587" y="4048125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73" name="Google Shape;173;p16"/>
          <p:cNvSpPr txBox="1"/>
          <p:nvPr/>
        </p:nvSpPr>
        <p:spPr>
          <a:xfrm>
            <a:off x="581025" y="4857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Architettura Logica del Controllo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178" name="Google Shape;17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79" name="Google Shape;179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0" name="Google Shape;180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181" name="Google Shape;181;p1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2687" y="1181100"/>
            <a:ext cx="5348287" cy="5191124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7"/>
          <p:cNvSpPr txBox="1"/>
          <p:nvPr/>
        </p:nvSpPr>
        <p:spPr>
          <a:xfrm>
            <a:off x="1266825" y="2595562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Host JVM &amp; Docker Core</a:t>
            </a:r>
            <a:endParaRPr/>
          </a:p>
        </p:txBody>
      </p:sp>
      <p:sp>
        <p:nvSpPr>
          <p:cNvPr id="183" name="Google Shape;183;p17"/>
          <p:cNvSpPr txBox="1"/>
          <p:nvPr/>
        </p:nvSpPr>
        <p:spPr>
          <a:xfrm>
            <a:off x="6977062" y="2709862"/>
            <a:ext cx="450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MQTT Adapter Bridge</a:t>
            </a:r>
            <a:endParaRPr/>
          </a:p>
        </p:txBody>
      </p:sp>
      <p:pic>
        <p:nvPicPr>
          <p:cNvPr descr="image.png" id="184" name="Google Shape;184;p1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3925" y="26289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7"/>
          <p:cNvSpPr txBox="1"/>
          <p:nvPr/>
        </p:nvSpPr>
        <p:spPr>
          <a:xfrm>
            <a:off x="1162050" y="30051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Java Virtual Machine: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Esegue il backend Qak e l'IOPort Web Server (porta 8081).</a:t>
            </a:r>
            <a:endParaRPr/>
          </a:p>
        </p:txBody>
      </p:sp>
      <p:sp>
        <p:nvSpPr>
          <p:cNvPr id="186" name="Google Shape;186;p17"/>
          <p:cNvSpPr txBox="1"/>
          <p:nvPr/>
        </p:nvSpPr>
        <p:spPr>
          <a:xfrm>
            <a:off x="1162050" y="3586162"/>
            <a:ext cx="44244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HTTP Polling &amp; CoAP GET: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Il browser interroga periodicamente il Web Server, che recupera in sincrono lo stato dell'orchestratore via CoAP.</a:t>
            </a:r>
            <a:endParaRPr/>
          </a:p>
        </p:txBody>
      </p:sp>
      <p:sp>
        <p:nvSpPr>
          <p:cNvPr id="187" name="Google Shape;187;p17"/>
          <p:cNvSpPr txBox="1"/>
          <p:nvPr/>
        </p:nvSpPr>
        <p:spPr>
          <a:xfrm>
            <a:off x="1162050" y="4386262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Docker Engine: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Isola il broker MQTT (Mosquitto) e il simulatore grafico 3D (WEnv).</a:t>
            </a:r>
            <a:endParaRPr/>
          </a:p>
        </p:txBody>
      </p:sp>
      <p:pic>
        <p:nvPicPr>
          <p:cNvPr descr="image.png" id="188" name="Google Shape;188;p1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2743200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17"/>
          <p:cNvSpPr txBox="1"/>
          <p:nvPr/>
        </p:nvSpPr>
        <p:spPr>
          <a:xfrm>
            <a:off x="6843712" y="31194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Disaccoppia l'orchestratore Qak dai protocolli di basso livello.</a:t>
            </a:r>
            <a:endParaRPr/>
          </a:p>
        </p:txBody>
      </p:sp>
      <p:sp>
        <p:nvSpPr>
          <p:cNvPr id="190" name="Google Shape;190;p17"/>
          <p:cNvSpPr txBox="1"/>
          <p:nvPr/>
        </p:nvSpPr>
        <p:spPr>
          <a:xfrm>
            <a:off x="6843712" y="36909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Converte i payload MQTT provenienti dal sonar in dispatches Qak distance(D).</a:t>
            </a:r>
            <a:endParaRPr/>
          </a:p>
        </p:txBody>
      </p:sp>
      <p:sp>
        <p:nvSpPr>
          <p:cNvPr id="191" name="Google Shape;191;p17"/>
          <p:cNvSpPr txBox="1"/>
          <p:nvPr/>
        </p:nvSpPr>
        <p:spPr>
          <a:xfrm>
            <a:off x="6843712" y="4271962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Invia comandi MQTT per il controllo dinamico dello stato del LED.</a:t>
            </a:r>
            <a:endParaRPr/>
          </a:p>
        </p:txBody>
      </p:sp>
      <p:sp>
        <p:nvSpPr>
          <p:cNvPr id="192" name="Google Shape;192;p17"/>
          <p:cNvSpPr txBox="1"/>
          <p:nvPr/>
        </p:nvSpPr>
        <p:spPr>
          <a:xfrm>
            <a:off x="923925" y="30051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3" name="Google Shape;193;p17"/>
          <p:cNvSpPr txBox="1"/>
          <p:nvPr/>
        </p:nvSpPr>
        <p:spPr>
          <a:xfrm>
            <a:off x="923925" y="3586162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4" name="Google Shape;194;p17"/>
          <p:cNvSpPr txBox="1"/>
          <p:nvPr/>
        </p:nvSpPr>
        <p:spPr>
          <a:xfrm>
            <a:off x="923925" y="4386262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5" name="Google Shape;195;p17"/>
          <p:cNvSpPr txBox="1"/>
          <p:nvPr/>
        </p:nvSpPr>
        <p:spPr>
          <a:xfrm>
            <a:off x="6605587" y="31194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6" name="Google Shape;196;p17"/>
          <p:cNvSpPr txBox="1"/>
          <p:nvPr/>
        </p:nvSpPr>
        <p:spPr>
          <a:xfrm>
            <a:off x="6605587" y="3690937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7" name="Google Shape;197;p17"/>
          <p:cNvSpPr txBox="1"/>
          <p:nvPr/>
        </p:nvSpPr>
        <p:spPr>
          <a:xfrm>
            <a:off x="6605587" y="4271962"/>
            <a:ext cx="152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198" name="Google Shape;198;p17"/>
          <p:cNvSpPr txBox="1"/>
          <p:nvPr/>
        </p:nvSpPr>
        <p:spPr>
          <a:xfrm>
            <a:off x="581025" y="485775"/>
            <a:ext cx="11581500" cy="4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Architettura Fisica Distribuita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03" name="Google Shape;203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12172950" cy="683895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4" name="Google Shape;204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05" name="Google Shape;205;p1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39450" y="480500"/>
            <a:ext cx="6160499" cy="428625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18"/>
          <p:cNvSpPr txBox="1"/>
          <p:nvPr/>
        </p:nvSpPr>
        <p:spPr>
          <a:xfrm>
            <a:off x="581025" y="485775"/>
            <a:ext cx="11581447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Integrazione Hardware Fisico</a:t>
            </a:r>
            <a:endParaRPr/>
          </a:p>
        </p:txBody>
      </p:sp>
      <p:sp>
        <p:nvSpPr>
          <p:cNvPr id="207" name="Google Shape;207;p18"/>
          <p:cNvSpPr txBox="1"/>
          <p:nvPr/>
        </p:nvSpPr>
        <p:spPr>
          <a:xfrm>
            <a:off x="5839450" y="909125"/>
            <a:ext cx="6160500" cy="5611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uasyncio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asyncio</a:t>
            </a:r>
            <a:endParaRPr b="1" sz="800">
              <a:solidFill>
                <a:srgbClr val="00FFFF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from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umqtt_simple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import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MQTTClient</a:t>
            </a:r>
            <a:endParaRPr b="1" sz="800">
              <a:solidFill>
                <a:srgbClr val="4EC9B0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solidFill>
                <a:srgbClr val="94A3B8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FF7B72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FF7B72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sonar_mqtt_loop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FFA657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):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while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569CD6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True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D4D4D4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read_sonar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b="1" lang="en-US" sz="800">
                <a:solidFill>
                  <a:srgbClr val="FFA657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.publish(</a:t>
            </a:r>
            <a:r>
              <a:rPr b="1" lang="en-US" sz="800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"cargoservice/pico/sonar"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lang="en-US" sz="800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str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"MQTT | Published distance:"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lang="en-US" sz="800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"cm"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except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"Sonar Loop | Error:"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await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asyncio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.sleep(</a:t>
            </a:r>
            <a:r>
              <a:rPr b="1" lang="en-US" sz="800">
                <a:solidFill>
                  <a:srgbClr val="B5CEA8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0.25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 </a:t>
            </a:r>
            <a:r>
              <a:rPr b="1" lang="en-US" sz="8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b="1" sz="8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solidFill>
                <a:schemeClr val="lt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FF7B72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FF7B72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def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main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():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connect_wifi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 sz="800">
                <a:solidFill>
                  <a:srgbClr val="8B949E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# Setup MQTT Client</a:t>
            </a:r>
            <a:endParaRPr b="1" sz="800">
              <a:solidFill>
                <a:srgbClr val="8B949E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D4D4D4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=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MQTTClient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"pico_client"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lang="en-US" sz="800">
                <a:solidFill>
                  <a:srgbClr val="79C0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MQTT_BROKER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set_callback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mqtt_callback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try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connect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"cargoservice/pico/led"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"MQTT | Connected &amp; Subscribed to cargoservice/pico/led"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except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Exception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: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print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A5D6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"MQTT | Initial connection failed:"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e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 sz="800">
                <a:solidFill>
                  <a:srgbClr val="8B949E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# Launch concurrent async loops</a:t>
            </a:r>
            <a:endParaRPr b="1" sz="800">
              <a:solidFill>
                <a:srgbClr val="8B949E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r>
              <a:rPr b="1" lang="en-US" sz="800">
                <a:solidFill>
                  <a:srgbClr val="C586C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await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b="1" lang="en-US" sz="800">
                <a:solidFill>
                  <a:srgbClr val="4EC9B0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asyncio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.gather(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led_control_loop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(),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sonar_mqtt_loop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),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    </a:t>
            </a:r>
            <a:r>
              <a:rPr b="1" lang="en-US" sz="800">
                <a:solidFill>
                  <a:srgbClr val="D2A8F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mqtt_check_loop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b="1" lang="en-US" sz="800">
                <a:solidFill>
                  <a:srgbClr val="C9D1D9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client</a:t>
            </a: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b="1" sz="800">
              <a:solidFill>
                <a:srgbClr val="BBBEBF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BBBEBF"/>
                </a:solidFill>
                <a:highlight>
                  <a:srgbClr val="121314"/>
                </a:highlight>
                <a:latin typeface="Courier New"/>
                <a:ea typeface="Courier New"/>
                <a:cs typeface="Courier New"/>
                <a:sym typeface="Courier New"/>
              </a:rPr>
              <a:t>    )</a:t>
            </a:r>
            <a:endParaRPr b="1" sz="800">
              <a:solidFill>
                <a:srgbClr val="FF7B72"/>
              </a:solidFill>
              <a:highlight>
                <a:srgbClr val="121314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08" name="Google Shape;208;p18"/>
          <p:cNvSpPr txBox="1"/>
          <p:nvPr/>
        </p:nvSpPr>
        <p:spPr>
          <a:xfrm>
            <a:off x="10326310" y="502358"/>
            <a:ext cx="30810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pico_sonar_led.</a:t>
            </a:r>
            <a:r>
              <a:rPr lang="en-US" sz="1300">
                <a:solidFill>
                  <a:srgbClr val="94A3B8"/>
                </a:solidFill>
                <a:latin typeface="Inter Medium"/>
                <a:ea typeface="Inter Medium"/>
                <a:cs typeface="Inter Medium"/>
                <a:sym typeface="Inter Medium"/>
              </a:rPr>
              <a:t>py</a:t>
            </a:r>
            <a:endParaRPr sz="1300">
              <a:solidFill>
                <a:srgbClr val="94A3B8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09" name="Google Shape;209;p18"/>
          <p:cNvSpPr txBox="1"/>
          <p:nvPr/>
        </p:nvSpPr>
        <p:spPr>
          <a:xfrm>
            <a:off x="192450" y="2383675"/>
            <a:ext cx="5589000" cy="3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800">
                <a:solidFill>
                  <a:schemeClr val="lt1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Raspberry Pi Pico W</a:t>
            </a:r>
            <a:endParaRPr sz="1800">
              <a:solidFill>
                <a:schemeClr val="lt1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1800">
              <a:solidFill>
                <a:srgbClr val="F8FAFC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Il passaggio dall'emulatore software all'hardware fisico reale è avvenuto a caldo, senza modificare l'orchestratore, grazie all'interfaccia standardizzata MQTT.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1800">
              <a:solidFill>
                <a:srgbClr val="F8FAFC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Char char="●"/>
            </a:pPr>
            <a:r>
              <a:rPr lang="en-US" sz="120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Sonar HC-SR04: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Collegato via pin GPIO per rilevare l'ostacolo.</a:t>
            </a:r>
            <a:endParaRPr sz="1200">
              <a:solidFill>
                <a:srgbClr val="94A3B8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Inter"/>
              <a:buChar char="●"/>
            </a:pPr>
            <a:r>
              <a:rPr lang="en-US" sz="120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LED Fisico: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Lampeggiante in moto, verde fisso in blocco.</a:t>
            </a:r>
            <a:endParaRPr>
              <a:solidFill>
                <a:schemeClr val="dk1"/>
              </a:solidFill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200"/>
              <a:buFont typeface="Inter"/>
              <a:buChar char="●"/>
            </a:pPr>
            <a:r>
              <a:rPr lang="en-US" sz="1200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MicroPython: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Codice pulito e asincrono per l'invio distanze.</a:t>
            </a:r>
            <a:endParaRPr sz="1800">
              <a:solidFill>
                <a:srgbClr val="F8FAFC"/>
              </a:solidFill>
              <a:latin typeface="Space Grotesk SemiBold"/>
              <a:ea typeface="Space Grotesk SemiBold"/>
              <a:cs typeface="Space Grotesk SemiBold"/>
              <a:sym typeface="Space Grotesk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14" name="Google Shape;2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5" y="9525"/>
            <a:ext cx="12172950" cy="68389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5" name="Google Shape;215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6" name="Google Shape;216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81025" y="1181100"/>
            <a:ext cx="5348287" cy="5191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17" name="Google Shape;217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62687" y="1181100"/>
            <a:ext cx="5348287" cy="519112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9"/>
          <p:cNvSpPr txBox="1"/>
          <p:nvPr/>
        </p:nvSpPr>
        <p:spPr>
          <a:xfrm>
            <a:off x="1266825" y="2533650"/>
            <a:ext cx="4535566" cy="29527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Out of Service (Allarme)</a:t>
            </a:r>
            <a:endParaRPr/>
          </a:p>
        </p:txBody>
      </p:sp>
      <p:sp>
        <p:nvSpPr>
          <p:cNvPr id="219" name="Google Shape;219;p19"/>
          <p:cNvSpPr txBox="1"/>
          <p:nvPr/>
        </p:nvSpPr>
        <p:spPr>
          <a:xfrm>
            <a:off x="6948487" y="2709862"/>
            <a:ext cx="45357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Ripristino </a:t>
            </a:r>
            <a:r>
              <a:rPr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Auto</a:t>
            </a:r>
            <a:r>
              <a:rPr b="0" i="0" lang="en-US" sz="180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matico</a:t>
            </a:r>
            <a:endParaRPr/>
          </a:p>
        </p:txBody>
      </p:sp>
      <p:pic>
        <p:nvPicPr>
          <p:cNvPr descr="image.png" id="220" name="Google Shape;220;p1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923925" y="2566987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19"/>
          <p:cNvSpPr txBox="1"/>
          <p:nvPr/>
        </p:nvSpPr>
        <p:spPr>
          <a:xfrm>
            <a:off x="1162050" y="2943225"/>
            <a:ext cx="44244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Rilevamento: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Sonar misura una distanza </a:t>
            </a:r>
            <a:r>
              <a:rPr lang="en-US" sz="12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maggiore 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di DFREE.</a:t>
            </a:r>
            <a:endParaRPr/>
          </a:p>
        </p:txBody>
      </p:sp>
      <p:sp>
        <p:nvSpPr>
          <p:cNvPr id="222" name="Google Shape;222;p19"/>
          <p:cNvSpPr txBox="1"/>
          <p:nvPr/>
        </p:nvSpPr>
        <p:spPr>
          <a:xfrm>
            <a:off x="1162050" y="3295650"/>
            <a:ext cx="442436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Timeout di Sicurezza: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Se la violazione persiste per </a:t>
            </a: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3 secondi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di fila, scatta la transizione di allarme.</a:t>
            </a:r>
            <a:endParaRPr/>
          </a:p>
        </p:txBody>
      </p:sp>
      <p:sp>
        <p:nvSpPr>
          <p:cNvPr id="223" name="Google Shape;223;p19"/>
          <p:cNvSpPr txBox="1"/>
          <p:nvPr/>
        </p:nvSpPr>
        <p:spPr>
          <a:xfrm>
            <a:off x="1162050" y="3867150"/>
            <a:ext cx="442436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Arresto Istantaneo: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Viene emesso l'evento alarm(sonar_failure) che arresta il robot.</a:t>
            </a:r>
            <a:endParaRPr/>
          </a:p>
        </p:txBody>
      </p:sp>
      <p:sp>
        <p:nvSpPr>
          <p:cNvPr id="224" name="Google Shape;224;p19"/>
          <p:cNvSpPr txBox="1"/>
          <p:nvPr/>
        </p:nvSpPr>
        <p:spPr>
          <a:xfrm>
            <a:off x="1162050" y="4448175"/>
            <a:ext cx="442436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Segnalazione Visiva: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Il LED passa da lampeggiante ad acceso fisso.</a:t>
            </a:r>
            <a:endParaRPr/>
          </a:p>
        </p:txBody>
      </p:sp>
      <p:pic>
        <p:nvPicPr>
          <p:cNvPr descr="image.png" id="225" name="Google Shape;225;p19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05587" y="2743200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9"/>
          <p:cNvSpPr txBox="1"/>
          <p:nvPr/>
        </p:nvSpPr>
        <p:spPr>
          <a:xfrm>
            <a:off x="6843712" y="3119437"/>
            <a:ext cx="442436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Monitoraggio Attivo: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Il sistema continua a campionare la distanza anche in stato di fermo.</a:t>
            </a:r>
            <a:endParaRPr/>
          </a:p>
        </p:txBody>
      </p:sp>
      <p:sp>
        <p:nvSpPr>
          <p:cNvPr id="227" name="Google Shape;227;p19"/>
          <p:cNvSpPr txBox="1"/>
          <p:nvPr/>
        </p:nvSpPr>
        <p:spPr>
          <a:xfrm>
            <a:off x="6843712" y="3690937"/>
            <a:ext cx="4424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Filtro Stabilità: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Al rientro dei parametri di sicurezza inizia la procedura di ripristino.</a:t>
            </a:r>
            <a:endParaRPr/>
          </a:p>
        </p:txBody>
      </p:sp>
      <p:sp>
        <p:nvSpPr>
          <p:cNvPr id="228" name="Google Shape;228;p19"/>
          <p:cNvSpPr txBox="1"/>
          <p:nvPr/>
        </p:nvSpPr>
        <p:spPr>
          <a:xfrm>
            <a:off x="6843712" y="4262437"/>
            <a:ext cx="4424362" cy="4667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Resume Activity:</a:t>
            </a:r>
            <a:r>
              <a:rPr b="0" i="0" lang="en-US" sz="1200" u="none" cap="none" strike="noStrik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Il robot riprende automaticamente il tragitto memorizzato verso l'ultima destinazione (CurrentDest).</a:t>
            </a:r>
            <a:endParaRPr/>
          </a:p>
        </p:txBody>
      </p:sp>
      <p:sp>
        <p:nvSpPr>
          <p:cNvPr id="229" name="Google Shape;229;p19"/>
          <p:cNvSpPr txBox="1"/>
          <p:nvPr/>
        </p:nvSpPr>
        <p:spPr>
          <a:xfrm>
            <a:off x="923925" y="2943225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923925" y="3295650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1" name="Google Shape;231;p19"/>
          <p:cNvSpPr txBox="1"/>
          <p:nvPr/>
        </p:nvSpPr>
        <p:spPr>
          <a:xfrm>
            <a:off x="923925" y="3867150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2" name="Google Shape;232;p19"/>
          <p:cNvSpPr txBox="1"/>
          <p:nvPr/>
        </p:nvSpPr>
        <p:spPr>
          <a:xfrm>
            <a:off x="923925" y="4448175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6605587" y="3119437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4" name="Google Shape;234;p19"/>
          <p:cNvSpPr txBox="1"/>
          <p:nvPr/>
        </p:nvSpPr>
        <p:spPr>
          <a:xfrm>
            <a:off x="6605587" y="3690937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5" name="Google Shape;235;p19"/>
          <p:cNvSpPr txBox="1"/>
          <p:nvPr/>
        </p:nvSpPr>
        <p:spPr>
          <a:xfrm>
            <a:off x="6605587" y="4262437"/>
            <a:ext cx="152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0EA5E9"/>
                </a:solidFill>
                <a:latin typeface="Inter"/>
                <a:ea typeface="Inter"/>
                <a:cs typeface="Inter"/>
                <a:sym typeface="Inter"/>
              </a:rPr>
              <a:t>→</a:t>
            </a: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581025" y="485775"/>
            <a:ext cx="11581447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Protocollo Sicurezza &amp; Gestione</a:t>
            </a:r>
            <a:endParaRPr/>
          </a:p>
        </p:txBody>
      </p:sp>
      <p:sp>
        <p:nvSpPr>
          <p:cNvPr id="237" name="Google Shape;237;p19"/>
          <p:cNvSpPr txBox="1"/>
          <p:nvPr/>
        </p:nvSpPr>
        <p:spPr>
          <a:xfrm>
            <a:off x="3271425" y="3808625"/>
            <a:ext cx="63003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20"/>
          <p:cNvSpPr txBox="1"/>
          <p:nvPr/>
        </p:nvSpPr>
        <p:spPr>
          <a:xfrm>
            <a:off x="581025" y="485775"/>
            <a:ext cx="11581447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50" u="none" cap="none" strike="noStrike">
                <a:solidFill>
                  <a:srgbClr val="38BDF8"/>
                </a:solidFill>
                <a:latin typeface="Space Grotesk SemiBold"/>
                <a:ea typeface="Space Grotesk SemiBold"/>
                <a:cs typeface="Space Grotesk SemiBold"/>
                <a:sym typeface="Space Grotesk SemiBold"/>
              </a:rPr>
              <a:t>Strategia Validation &amp; Test Plans</a:t>
            </a:r>
            <a:endParaRPr/>
          </a:p>
        </p:txBody>
      </p:sp>
      <p:graphicFrame>
        <p:nvGraphicFramePr>
          <p:cNvPr id="243" name="Google Shape;243;p20"/>
          <p:cNvGraphicFramePr/>
          <p:nvPr/>
        </p:nvGraphicFramePr>
        <p:xfrm>
          <a:off x="952500" y="2011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{05AD940E-B47E-4D0C-9D39-0C98CCD1D847}</a:tableStyleId>
              </a:tblPr>
              <a:tblGrid>
                <a:gridCol w="1677675"/>
                <a:gridCol w="2002800"/>
                <a:gridCol w="3384550"/>
                <a:gridCol w="3221975"/>
              </a:tblGrid>
              <a:tr h="3720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8BDF8"/>
                          </a:solidFill>
                          <a:latin typeface="Space Grotesk SemiBold"/>
                          <a:ea typeface="Space Grotesk SemiBold"/>
                          <a:cs typeface="Space Grotesk SemiBold"/>
                          <a:sym typeface="Space Grotesk SemiBold"/>
                        </a:rPr>
                        <a:t>Test ID</a:t>
                      </a:r>
                      <a:endParaRPr>
                        <a:solidFill>
                          <a:srgbClr val="38BDF8"/>
                        </a:solidFill>
                        <a:latin typeface="Space Grotesk SemiBold"/>
                        <a:ea typeface="Space Grotesk SemiBold"/>
                        <a:cs typeface="Space Grotesk SemiBold"/>
                        <a:sym typeface="Space Grotesk SemiBold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8BDF8"/>
                          </a:solidFill>
                          <a:latin typeface="Space Grotesk SemiBold"/>
                          <a:ea typeface="Space Grotesk SemiBold"/>
                          <a:cs typeface="Space Grotesk SemiBold"/>
                          <a:sym typeface="Space Grotesk SemiBold"/>
                        </a:rPr>
                        <a:t>Ambito</a:t>
                      </a:r>
                      <a:endParaRPr>
                        <a:solidFill>
                          <a:srgbClr val="38BDF8"/>
                        </a:solidFill>
                        <a:latin typeface="Space Grotesk SemiBold"/>
                        <a:ea typeface="Space Grotesk SemiBold"/>
                        <a:cs typeface="Space Grotesk SemiBold"/>
                        <a:sym typeface="Space Grotesk SemiBold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8BDF8"/>
                          </a:solidFill>
                          <a:latin typeface="Space Grotesk SemiBold"/>
                          <a:ea typeface="Space Grotesk SemiBold"/>
                          <a:cs typeface="Space Grotesk SemiBold"/>
                          <a:sym typeface="Space Grotesk SemiBold"/>
                        </a:rPr>
                        <a:t>Azione di Test</a:t>
                      </a:r>
                      <a:endParaRPr>
                        <a:solidFill>
                          <a:srgbClr val="38BDF8"/>
                        </a:solidFill>
                        <a:latin typeface="Space Grotesk SemiBold"/>
                        <a:ea typeface="Space Grotesk SemiBold"/>
                        <a:cs typeface="Space Grotesk SemiBold"/>
                        <a:sym typeface="Space Grotesk SemiBold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solidFill>
                            <a:srgbClr val="38BDF8"/>
                          </a:solidFill>
                          <a:latin typeface="Space Grotesk SemiBold"/>
                          <a:ea typeface="Space Grotesk SemiBold"/>
                          <a:cs typeface="Space Grotesk SemiBold"/>
                          <a:sym typeface="Space Grotesk SemiBold"/>
                        </a:rPr>
                        <a:t>Risultato Atteso/Validazione</a:t>
                      </a:r>
                      <a:endParaRPr>
                        <a:solidFill>
                          <a:srgbClr val="38BDF8"/>
                        </a:solidFill>
                        <a:latin typeface="Space Grotesk SemiBold"/>
                        <a:ea typeface="Space Grotesk SemiBold"/>
                        <a:cs typeface="Space Grotesk SemiBold"/>
                        <a:sym typeface="Space Grotesk SemiBold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1"/>
                    </a:solidFill>
                  </a:tcPr>
                </a:tc>
              </a:tr>
              <a:tr h="572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Test Funzionale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Funzionale CoAP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Richiesta di load a stiva piena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Risposta immediata di errore CoAP: il robot rimane immobile in Home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572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JUnit Test 2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Integrazione Logica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Carico di container su stiva vuota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Transito completo delle aree del robot e riserva dello slot logico 1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572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US">
                          <a:solidFill>
                            <a:schemeClr val="dk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JUnit Test 3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Sicurezza Sonar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Simulazione distanza di allarme su mock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Emissione di alarm, transizione di blocco e ripresa automatica del robot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5724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Hardware Test 1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Interazione HW Reale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Interruzione del sonar reale HC-SR04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>
                          <a:latin typeface="Inter"/>
                          <a:ea typeface="Inter"/>
                          <a:cs typeface="Inter"/>
                          <a:sym typeface="Inter"/>
                        </a:rPr>
                        <a:t>Arresto istantaneo nel simulatore 3D e accensione del LED rosso fisico</a:t>
                      </a:r>
                      <a:endParaRPr>
                        <a:latin typeface="Inter"/>
                        <a:ea typeface="Inter"/>
                        <a:cs typeface="Inter"/>
                        <a:sym typeface="Inter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EA5E9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48" name="Google Shape;248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324975" y="-466725"/>
            <a:ext cx="3333750" cy="33337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49" name="Google Shape;249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-466725" y="4467225"/>
            <a:ext cx="3333750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21"/>
          <p:cNvSpPr txBox="1"/>
          <p:nvPr/>
        </p:nvSpPr>
        <p:spPr>
          <a:xfrm>
            <a:off x="1595412" y="3013354"/>
            <a:ext cx="90012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540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Grazie per l’attenzione</a:t>
            </a:r>
            <a:endParaRPr/>
          </a:p>
        </p:txBody>
      </p:sp>
      <p:sp>
        <p:nvSpPr>
          <p:cNvPr id="251" name="Google Shape;251;p21"/>
          <p:cNvSpPr txBox="1"/>
          <p:nvPr/>
        </p:nvSpPr>
        <p:spPr>
          <a:xfrm>
            <a:off x="1809750" y="3917479"/>
            <a:ext cx="8572500" cy="2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Sistema cargoservice - Fine Presentazione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